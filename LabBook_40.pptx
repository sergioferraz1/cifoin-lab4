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6"/>
  </p:notesMasterIdLst>
  <p:handoutMasterIdLst>
    <p:handoutMasterId r:id="rId27"/>
  </p:handoutMasterIdLst>
  <p:sldIdLst>
    <p:sldId id="256" r:id="rId2"/>
    <p:sldId id="289" r:id="rId3"/>
    <p:sldId id="290" r:id="rId4"/>
    <p:sldId id="304" r:id="rId5"/>
    <p:sldId id="291" r:id="rId6"/>
    <p:sldId id="300" r:id="rId7"/>
    <p:sldId id="301" r:id="rId8"/>
    <p:sldId id="302" r:id="rId9"/>
    <p:sldId id="303" r:id="rId10"/>
    <p:sldId id="292" r:id="rId11"/>
    <p:sldId id="293" r:id="rId12"/>
    <p:sldId id="305" r:id="rId13"/>
    <p:sldId id="306" r:id="rId14"/>
    <p:sldId id="307" r:id="rId15"/>
    <p:sldId id="308" r:id="rId16"/>
    <p:sldId id="294" r:id="rId17"/>
    <p:sldId id="295" r:id="rId18"/>
    <p:sldId id="313" r:id="rId19"/>
    <p:sldId id="314" r:id="rId20"/>
    <p:sldId id="315" r:id="rId21"/>
    <p:sldId id="316" r:id="rId22"/>
    <p:sldId id="311" r:id="rId23"/>
    <p:sldId id="312" r:id="rId24"/>
    <p:sldId id="288" r:id="rId25"/>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2C04A-7536-42FF-B1B3-F8E425E60707}" v="4" dt="2026-06-12T10:56:55.63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0" d="100"/>
          <a:sy n="70" d="100"/>
        </p:scale>
        <p:origin x="1138" y="250"/>
      </p:cViewPr>
      <p:guideLst>
        <p:guide orient="horz" pos="2880"/>
        <p:guide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12/06/2026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12/06/2026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205297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87AEC-015A-4808-9AC9-382D824E43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C03EDA-741F-B6F5-3444-A8D74D690AB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839219-55CF-753A-3C53-04F6B1E2897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04B99BF-32CC-B000-CB3E-0CD66FF7CA7C}"/>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2687642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E9D3D-2D65-AF09-F7A8-096D6E8843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ADFF3B-DD74-0106-5B01-AB2D69AF7A6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52C0452-021F-2F58-BB74-615FEA47182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4C941BD-1A28-FECB-D528-F7D875DE42F6}"/>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042496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FBBC5-21AC-3AAE-12DB-7C52DE59CF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54F0F96-94E8-E23F-A89E-52C2B83017F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B67D996-9E0D-F96B-6031-0FF5E7A60A6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480268A-FE6C-009F-DBDC-FADACE88970A}"/>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6411248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B20F5-F3AE-B91F-A6C6-EB971DA72B5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A69395D-B848-55E5-43E8-30A983DC319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5334A90-1D2A-70B1-9BB9-F633C72B0BE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173C746-07FD-A7BB-5A68-A4402E42ED2A}"/>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3618224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F106A-CBC7-D1A2-C435-9FF8F1DE17F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53A89C2-5359-0353-6A21-E1A1424E34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10E70B6-6331-E738-6364-F807BDBA31D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F049487-58A2-3642-1063-CBD616F65277}"/>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012737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2BF37-98F6-CD9B-2255-0A64B5CEA4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68927E-2442-0553-FBC8-D3C32BCC5C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130D77-4D33-EE41-3A9E-4EB6D241906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5BAC07D-EBC4-F68A-7BE7-2B2DCCECD5CD}"/>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1885431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988B3-C141-4645-2F2A-A09F408267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22BAD8-B0CC-3164-3027-A210D7EB75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3995D4B-1202-927A-28C9-66F35C33AE6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156FFEE-1184-FFA2-1E7F-CC9E8439AC53}"/>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3810953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E2681-8CFF-F773-AE7B-E51E69D80C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DEEF520-DE8D-F5E5-35A4-5A05D9C7345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E00BC8D-9D53-06B4-2E1A-BECD3F3F458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000FAB5-29E1-B05A-418B-12427675369E}"/>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35295337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9A3D0-64B4-040C-2C84-984DBED8C4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A6BB4F4-422C-004E-D761-E615F1E47D8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20A2318-63DE-D386-FBB2-29955EDDC97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905CF07-A80E-2177-8B53-7E6C8DC692F9}"/>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525156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1220F-4A02-54F4-77F2-6B3FBDD40D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7DED740-4446-8D37-A5CD-169C8623B08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2AAFFD2-CD9A-F594-AF3B-9A594F1624E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3D6D598-BBF9-5EBD-E49D-D2F7F67F19FA}"/>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3893918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4878B-7A90-04FC-4115-02FA087A54A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51A3F7-7AB1-CCCB-ABAB-827406A4D47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4D62696-C811-109F-C99D-EA443C5A110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7907DDD-6FE9-8794-58BC-0B77F5AC5D80}"/>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7573206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9EAE7-9EAB-544B-26F0-D89AD57C0B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7142DDC-39F3-B8EF-C550-B1BDBF79832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14E7676-8E00-A60E-B890-D4F612C9A57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F8AAF8C-62CF-3619-1C70-91E48BE9A4C4}"/>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163104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169CA-A6E9-D0C3-4D3A-6AF9089104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EC97DB9-2632-3700-0312-BB76DC46DE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897758-8CC0-1479-13D7-87B5FBD747CB}"/>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060DEFB-1A44-3354-5B15-298FF8A10085}"/>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15764594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FDA49-FF44-D8F8-9219-B5BD09D24F7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13C8E80-1C70-AFE0-71E7-48512C83EC7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7A8B897-6456-D90D-F714-80FEE999F1EB}"/>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87D4F59-E1E1-3772-33D5-9ED53C6AEBDC}"/>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2064019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2202B-5E15-A8F0-7D22-64D235E488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A293D87-23F3-FC41-BDCE-2CE620AA280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D331482-133C-AA3C-0544-5F97767F50B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9A380D5-68B6-4C28-C698-ADED53701F0C}"/>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4195279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B0204-A3E6-6495-3C12-C1E716E9EE7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8ED399A-362C-15A3-18F1-C286C16A751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6A4BD4E-595D-9FAD-1D14-FAA391DD3CB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580A062-A504-DDF7-0467-8CD3338D2E25}"/>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32517135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75F30-6EBA-18CC-20C0-A6F7043FF95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6ED6A53-2B03-48B7-29D2-1CAEB0E3488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97CCD31-70FA-3DF1-9451-4EE2BE497DF1}"/>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6D5C06C-0732-0257-A5B8-1ECA419FA2AB}"/>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15374139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37E2D-0267-DEE6-0216-E02350E38B3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9C3D214-3058-7DBD-93C0-A7BBC58027D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F6216D2-05C6-4A74-361C-9374F9E587D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7889329-46B4-FAE5-9A7A-2D10EC40F68A}"/>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25080565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348E6-0099-E620-6688-777A68399A9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063E491-91DE-75A8-FA75-B424A978FAC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AD6747E-F1B7-2C56-F4C4-C20024D907F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493E5E3-ACBF-1C7C-0063-11E1950E4A92}"/>
              </a:ext>
            </a:extLst>
          </p:cNvPr>
          <p:cNvSpPr>
            <a:spLocks noGrp="1"/>
          </p:cNvSpPr>
          <p:nvPr>
            <p:ph type="sldNum" sz="quarter" idx="5"/>
          </p:nvPr>
        </p:nvSpPr>
        <p:spPr/>
        <p:txBody>
          <a:bodyPr/>
          <a:lstStyle/>
          <a:p>
            <a:fld id="{676223B9-C868-4436-87D9-1A3152E1157A}" type="slidenum">
              <a:rPr lang="es-ES" smtClean="0"/>
              <a:t>23</a:t>
            </a:fld>
            <a:endParaRPr lang="es-ES"/>
          </a:p>
        </p:txBody>
      </p:sp>
    </p:spTree>
    <p:extLst>
      <p:ext uri="{BB962C8B-B14F-4D97-AF65-F5344CB8AC3E}">
        <p14:creationId xmlns:p14="http://schemas.microsoft.com/office/powerpoint/2010/main" val="1938488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4.0. LAYOUT</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a:t>Texto del contenido</a:t>
            </a:r>
          </a:p>
          <a:p>
            <a:pPr lvl="1"/>
            <a:r>
              <a:rPr lang="es-ES"/>
              <a:t>Segundo nivel</a:t>
            </a:r>
          </a:p>
          <a:p>
            <a:pPr lvl="2"/>
            <a:r>
              <a:rPr lang="es-ES"/>
              <a:t>Tercer nivel</a:t>
            </a:r>
          </a:p>
          <a:p>
            <a:pPr lvl="3"/>
            <a:r>
              <a:rPr lang="es-ES"/>
              <a:t>Cuarto nivel</a:t>
            </a:r>
          </a:p>
          <a:p>
            <a:pPr lvl="4"/>
            <a:r>
              <a:rPr lang="es-ES"/>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4.0. LAYOUT</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ascualmunoz/cifoin-lab4.git" TargetMode="External"/><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a:latin typeface="Lucida Sans"/>
                <a:cs typeface="Lucida Sans"/>
              </a:rPr>
              <a:t>Lab Book 4.0 Circuits and Compact </a:t>
            </a:r>
            <a:r>
              <a:rPr lang="es-ES" sz="3200" b="1" err="1">
                <a:latin typeface="Lucida Sans"/>
                <a:cs typeface="Lucida Sans"/>
              </a:rPr>
              <a:t>Models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a:latin typeface="Arial"/>
                <a:cs typeface="Arial"/>
              </a:rPr>
              <a:t>Student: Alex Blanes y Sergio Ferraz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4.0. LAYOUT</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a:t>
            </a:r>
            <a:r>
              <a:rPr lang="en-US" kern="0">
                <a:solidFill>
                  <a:sysClr val="windowText" lastClr="000000"/>
                </a:solidFill>
                <a:sym typeface="Wingdings" pitchFamily="2" charset="2"/>
                <a:hlinkClick r:id="rId3"/>
              </a:rPr>
              <a:t>https://github.com/pascualmunoz/cifoin-lab4.git</a:t>
            </a:r>
            <a:endParaRPr lang="en-US" kern="0">
              <a:solidFill>
                <a:sysClr val="windowText" lastClr="000000"/>
              </a:solidFill>
              <a:sym typeface="Wingdings" pitchFamily="2" charset="2"/>
            </a:endParaRP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800100" lvl="1" indent="-342900" algn="just">
              <a:buFont typeface="Arial" panose="020B0604020202020204" pitchFamily="34" charset="0"/>
              <a:buChar char="•"/>
            </a:pPr>
            <a:r>
              <a:rPr lang="en-US" kern="0">
                <a:solidFill>
                  <a:sysClr val="windowText" lastClr="000000"/>
                </a:solidFill>
                <a:sym typeface="Wingdings" pitchFamily="2" charset="2"/>
              </a:rPr>
              <a:t>Open folder / repo in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800100" lvl="1" indent="-342900" algn="just">
              <a:buFont typeface="Arial" panose="020B0604020202020204" pitchFamily="34" charset="0"/>
              <a:buChar char="•"/>
            </a:pPr>
            <a:r>
              <a:rPr lang="en-US" kern="0">
                <a:solidFill>
                  <a:sysClr val="windowText" lastClr="000000"/>
                </a:solidFill>
                <a:sym typeface="Wingdings" pitchFamily="2" charset="2"/>
              </a:rPr>
              <a:t>Open terminal: </a:t>
            </a:r>
            <a:r>
              <a:rPr lang="en-US" kern="0" err="1">
                <a:solidFill>
                  <a:sysClr val="windowText" lastClr="000000"/>
                </a:solidFill>
                <a:sym typeface="Wingdings" pitchFamily="2" charset="2"/>
              </a:rPr>
              <a:t>uv</a:t>
            </a:r>
            <a:r>
              <a:rPr lang="en-US" kern="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LAYOUT_STUDENT.ipynb</a:t>
            </a:r>
            <a:r>
              <a:rPr lang="en-US" kern="0">
                <a:solidFill>
                  <a:sysClr val="windowText" lastClr="000000"/>
                </a:solidFill>
              </a:rPr>
              <a:t> </a:t>
            </a:r>
          </a:p>
          <a:p>
            <a:pPr marL="342900" indent="-342900" algn="just">
              <a:buFont typeface="Arial" panose="020B0604020202020204" pitchFamily="34" charset="0"/>
              <a:buChar char="•"/>
            </a:pPr>
            <a:endParaRPr lang="en-US" kern="0">
              <a:solidFill>
                <a:sysClr val="windowText" lastClr="000000"/>
              </a:solidFill>
            </a:endParaRPr>
          </a:p>
          <a:p>
            <a:pPr marL="342900" indent="-342900" algn="just">
              <a:buFont typeface="Arial" panose="020B0604020202020204" pitchFamily="34" charset="0"/>
              <a:buChar char="•"/>
            </a:pPr>
            <a:r>
              <a:rPr lang="en-US" b="1" kern="0">
                <a:solidFill>
                  <a:srgbClr val="FF0000"/>
                </a:solidFill>
              </a:rPr>
              <a:t>Points</a:t>
            </a:r>
          </a:p>
          <a:p>
            <a:pPr marL="800100" lvl="1" indent="-342900" algn="just">
              <a:buFont typeface="Arial" panose="020B0604020202020204" pitchFamily="34" charset="0"/>
              <a:buChar char="•"/>
            </a:pPr>
            <a:r>
              <a:rPr lang="en-US" b="1" kern="0">
                <a:solidFill>
                  <a:srgbClr val="FF0000"/>
                </a:solidFill>
              </a:rPr>
              <a:t>LO1: 3 points</a:t>
            </a:r>
          </a:p>
          <a:p>
            <a:pPr marL="800100" lvl="1" indent="-342900" algn="just">
              <a:buFont typeface="Arial" panose="020B0604020202020204" pitchFamily="34" charset="0"/>
              <a:buChar char="•"/>
            </a:pPr>
            <a:r>
              <a:rPr lang="en-US" b="1" kern="0">
                <a:solidFill>
                  <a:srgbClr val="FF0000"/>
                </a:solidFill>
              </a:rPr>
              <a:t>LO2: 3 points</a:t>
            </a:r>
          </a:p>
          <a:p>
            <a:pPr marL="800100" lvl="1" indent="-342900" algn="just">
              <a:buFont typeface="Arial" panose="020B0604020202020204" pitchFamily="34" charset="0"/>
              <a:buChar char="•"/>
            </a:pPr>
            <a:r>
              <a:rPr lang="en-US" b="1" kern="0">
                <a:solidFill>
                  <a:srgbClr val="FF0000"/>
                </a:solidFill>
              </a:rPr>
              <a:t>LO3: 1 points</a:t>
            </a:r>
          </a:p>
          <a:p>
            <a:pPr marL="800100" lvl="1" indent="-342900" algn="just">
              <a:buFont typeface="Arial" panose="020B0604020202020204" pitchFamily="34" charset="0"/>
              <a:buChar char="•"/>
            </a:pPr>
            <a:r>
              <a:rPr lang="en-US" b="1" kern="0">
                <a:solidFill>
                  <a:srgbClr val="FF0000"/>
                </a:solidFill>
              </a:rPr>
              <a:t>LO4: 3 points</a:t>
            </a:r>
          </a:p>
          <a:p>
            <a:pPr algn="just"/>
            <a:endParaRPr lang="en-US" b="1" i="1"/>
          </a:p>
          <a:p>
            <a:pPr algn="just"/>
            <a:endParaRPr lang="en-US" sz="2000" b="1" i="1"/>
          </a:p>
          <a:p>
            <a:pPr algn="just"/>
            <a:endParaRPr lang="en-US" sz="2000" kern="0">
              <a:solidFill>
                <a:sysClr val="windowText" lastClr="000000"/>
              </a:solidFill>
            </a:endParaRP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#1a – Notebook section 1. Technology</a:t>
            </a:r>
            <a:br>
              <a:rPr lang="es-ES" sz="2500" spc="-5">
                <a:latin typeface="+mj-lt"/>
                <a:cs typeface="Lucida Sans"/>
              </a:rPr>
            </a:br>
            <a:r>
              <a:rPr lang="es-ES" b="0" i="1" spc="-5">
                <a:latin typeface="+mj-lt"/>
              </a:rPr>
              <a:t>“</a:t>
            </a:r>
            <a:r>
              <a:rPr lang="es-ES" b="0" i="1" spc="-5" err="1">
                <a:latin typeface="+mj-lt"/>
              </a:rPr>
              <a:t>We</a:t>
            </a:r>
            <a:r>
              <a:rPr lang="es-ES" b="0" i="1" spc="-5">
                <a:latin typeface="+mj-lt"/>
              </a:rPr>
              <a:t> </a:t>
            </a:r>
            <a:r>
              <a:rPr lang="es-ES" b="0" i="1" spc="-5" err="1">
                <a:latin typeface="+mj-lt"/>
              </a:rPr>
              <a:t>will</a:t>
            </a:r>
            <a:r>
              <a:rPr lang="es-ES" b="0" i="1" spc="-5">
                <a:latin typeface="+mj-lt"/>
              </a:rPr>
              <a:t> </a:t>
            </a:r>
            <a:r>
              <a:rPr lang="es-ES" b="0" i="1" spc="-5" err="1">
                <a:latin typeface="+mj-lt"/>
              </a:rPr>
              <a:t>work</a:t>
            </a:r>
            <a:r>
              <a:rPr lang="es-ES" b="0" i="1" spc="-5">
                <a:latin typeface="+mj-lt"/>
                <a:cs typeface="Lucida Sans"/>
              </a:rPr>
              <a:t> </a:t>
            </a:r>
            <a:r>
              <a:rPr lang="es-ES" b="0" i="1" spc="-5" err="1">
                <a:latin typeface="+mj-lt"/>
                <a:cs typeface="Lucida Sans"/>
              </a:rPr>
              <a:t>with</a:t>
            </a:r>
            <a:r>
              <a:rPr lang="es-ES" b="0" i="1" spc="-5">
                <a:latin typeface="+mj-lt"/>
                <a:cs typeface="Lucida Sans"/>
              </a:rPr>
              <a:t> </a:t>
            </a:r>
            <a:r>
              <a:rPr lang="es-ES" b="0" i="1" spc="-5" err="1">
                <a:latin typeface="+mj-lt"/>
                <a:cs typeface="Lucida Sans"/>
              </a:rPr>
              <a:t>the</a:t>
            </a:r>
            <a:r>
              <a:rPr lang="es-ES" b="0" i="1" spc="-5">
                <a:latin typeface="+mj-lt"/>
                <a:cs typeface="Lucida Sans"/>
              </a:rPr>
              <a:t> demo UPVfab PDK. </a:t>
            </a:r>
            <a:r>
              <a:rPr lang="es-ES" b="0" i="1" spc="-5" err="1">
                <a:latin typeface="+mj-lt"/>
                <a:cs typeface="Lucida Sans"/>
              </a:rPr>
              <a:t>Let's</a:t>
            </a:r>
            <a:r>
              <a:rPr lang="es-ES" b="0" i="1" spc="-5">
                <a:latin typeface="+mj-lt"/>
                <a:cs typeface="Lucida Sans"/>
              </a:rPr>
              <a:t> </a:t>
            </a:r>
            <a:r>
              <a:rPr lang="es-ES" b="0" i="1" spc="-5" err="1">
                <a:latin typeface="+mj-lt"/>
                <a:cs typeface="Lucida Sans"/>
              </a:rPr>
              <a:t>view</a:t>
            </a:r>
            <a:r>
              <a:rPr lang="es-ES" b="0" i="1" spc="-5">
                <a:latin typeface="+mj-lt"/>
                <a:cs typeface="Lucida Sans"/>
              </a:rPr>
              <a:t> </a:t>
            </a:r>
            <a:r>
              <a:rPr lang="es-ES" b="0" i="1" spc="-5" err="1">
                <a:latin typeface="+mj-lt"/>
                <a:cs typeface="Lucida Sans"/>
              </a:rPr>
              <a:t>the</a:t>
            </a:r>
            <a:r>
              <a:rPr lang="es-ES" b="0" i="1" spc="-5">
                <a:latin typeface="+mj-lt"/>
                <a:cs typeface="Lucida Sans"/>
              </a:rPr>
              <a:t> </a:t>
            </a:r>
            <a:r>
              <a:rPr lang="es-ES" b="0" i="1" spc="-5" err="1">
                <a:latin typeface="+mj-lt"/>
                <a:cs typeface="Lucida Sans"/>
              </a:rPr>
              <a:t>layer</a:t>
            </a:r>
            <a:r>
              <a:rPr lang="es-ES" b="0" i="1" spc="-5">
                <a:latin typeface="+mj-lt"/>
                <a:cs typeface="Lucida Sans"/>
              </a:rPr>
              <a:t> </a:t>
            </a:r>
            <a:r>
              <a:rPr lang="es-ES" b="0" i="1" spc="-5" err="1">
                <a:latin typeface="+mj-lt"/>
                <a:cs typeface="Lucida Sans"/>
              </a:rPr>
              <a:t>distribution</a:t>
            </a:r>
            <a:r>
              <a:rPr lang="es-ES" b="0" i="1" spc="-5">
                <a:latin typeface="+mj-lt"/>
                <a:cs typeface="Lucida Sans"/>
              </a:rPr>
              <a:t> </a:t>
            </a:r>
            <a:r>
              <a:rPr lang="es-ES" b="0" i="1" spc="-5" err="1">
                <a:latin typeface="+mj-lt"/>
                <a:cs typeface="Lucida Sans"/>
              </a:rPr>
              <a:t>of</a:t>
            </a:r>
            <a:r>
              <a:rPr lang="es-ES" b="0" i="1" spc="-5">
                <a:latin typeface="+mj-lt"/>
                <a:cs typeface="Lucida Sans"/>
              </a:rPr>
              <a:t> </a:t>
            </a:r>
            <a:r>
              <a:rPr lang="es-ES" b="0" i="1" spc="-5" err="1">
                <a:latin typeface="+mj-lt"/>
                <a:cs typeface="Lucida Sans"/>
              </a:rPr>
              <a:t>this</a:t>
            </a:r>
            <a:r>
              <a:rPr lang="es-ES" b="0" i="1" spc="-5">
                <a:latin typeface="+mj-lt"/>
                <a:cs typeface="Lucida Sans"/>
              </a:rPr>
              <a:t> PDK”</a:t>
            </a:r>
            <a:endParaRPr sz="2500" b="0" i="1">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A PDK is </a:t>
            </a:r>
            <a:r>
              <a:rPr lang="es-ES" sz="1200">
                <a:solidFill>
                  <a:srgbClr val="000000"/>
                </a:solidFill>
                <a:latin typeface="Arial" panose="020B0604020202020204" pitchFamily="34" charset="0"/>
                <a:cs typeface="Arial" panose="020B0604020202020204" pitchFamily="34" charset="0"/>
              </a:rPr>
              <a:t>u</a:t>
            </a:r>
            <a:r>
              <a:rPr lang="es-ES" sz="1200" b="0" i="0" u="none" strike="noStrike">
                <a:solidFill>
                  <a:srgbClr val="000000"/>
                </a:solidFill>
                <a:effectLst/>
                <a:latin typeface="Arial" panose="020B0604020202020204" pitchFamily="34" charset="0"/>
                <a:cs typeface="Arial" panose="020B0604020202020204" pitchFamily="34" charset="0"/>
              </a:rPr>
              <a:t>n conjunto de archivos, librerías y reglas proporcionado por una fábrica (</a:t>
            </a:r>
            <a:r>
              <a:rPr lang="es-ES" sz="1200" b="0" i="0" u="none" strike="noStrike" err="1">
                <a:solidFill>
                  <a:srgbClr val="000000"/>
                </a:solidFill>
                <a:effectLst/>
                <a:latin typeface="Arial" panose="020B0604020202020204" pitchFamily="34" charset="0"/>
                <a:cs typeface="Arial" panose="020B0604020202020204" pitchFamily="34" charset="0"/>
              </a:rPr>
              <a:t>foundry</a:t>
            </a:r>
            <a:r>
              <a:rPr lang="es-ES" sz="1200" b="0" i="0" u="none" strike="noStrike">
                <a:solidFill>
                  <a:srgbClr val="000000"/>
                </a:solidFill>
                <a:effectLst/>
                <a:latin typeface="Arial" panose="020B0604020202020204" pitchFamily="34" charset="0"/>
                <a:cs typeface="Arial" panose="020B0604020202020204" pitchFamily="34" charset="0"/>
              </a:rPr>
              <a:t>) que permite a los diseñadores crear circuitos garantizando que sean compatibles con su proceso de fabricación específico.</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In general, the layers for layout in a PDK </a:t>
            </a:r>
            <a:r>
              <a:rPr lang="en-US" sz="1200" err="1">
                <a:latin typeface="Arial" panose="020B0604020202020204" pitchFamily="34" charset="0"/>
                <a:cs typeface="Arial" panose="020B0604020202020204" pitchFamily="34" charset="0"/>
              </a:rPr>
              <a:t>representan</a:t>
            </a:r>
            <a:r>
              <a:rPr lang="en-US" sz="1200">
                <a:latin typeface="Arial" panose="020B0604020202020204" pitchFamily="34" charset="0"/>
                <a:cs typeface="Arial" panose="020B0604020202020204" pitchFamily="34" charset="0"/>
              </a:rPr>
              <a:t> </a:t>
            </a:r>
            <a:r>
              <a:rPr lang="es-ES" sz="1200">
                <a:solidFill>
                  <a:srgbClr val="000000"/>
                </a:solidFill>
                <a:latin typeface="Arial" panose="020B0604020202020204" pitchFamily="34" charset="0"/>
                <a:cs typeface="Arial" panose="020B0604020202020204" pitchFamily="34" charset="0"/>
              </a:rPr>
              <a:t>l</a:t>
            </a:r>
            <a:r>
              <a:rPr lang="es-ES" sz="1200" b="0" i="0" u="none" strike="noStrike">
                <a:solidFill>
                  <a:srgbClr val="000000"/>
                </a:solidFill>
                <a:effectLst/>
                <a:latin typeface="Arial" panose="020B0604020202020204" pitchFamily="34" charset="0"/>
                <a:cs typeface="Arial" panose="020B0604020202020204" pitchFamily="34" charset="0"/>
              </a:rPr>
              <a:t>as diferentes máscaras físicas, materiales y operaciones (como depósitos, grabados, dopados o metalizaciones) que se aplicarán paso a paso sobre la oblea durante la fabricación del chip en la sala blanca.</a:t>
            </a:r>
          </a:p>
          <a:p>
            <a:pPr algn="just"/>
            <a:endParaRPr lang="en-US" sz="120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763342" y="2494306"/>
            <a:ext cx="5024773" cy="646331"/>
          </a:xfrm>
          <a:prstGeom prst="rect">
            <a:avLst/>
          </a:prstGeom>
          <a:noFill/>
        </p:spPr>
        <p:txBody>
          <a:bodyPr wrap="none" rtlCol="0">
            <a:spAutoFit/>
          </a:bodyPr>
          <a:lstStyle/>
          <a:p>
            <a:pPr algn="ctr"/>
            <a:r>
              <a:rPr lang="en-US"/>
              <a:t>Paste code to view the layer distribution of this PDK</a:t>
            </a:r>
          </a:p>
          <a:p>
            <a:pPr algn="ctr"/>
            <a:endParaRPr lang="en-US"/>
          </a:p>
        </p:txBody>
      </p:sp>
      <p:sp>
        <p:nvSpPr>
          <p:cNvPr id="8" name="Rectángulo 7">
            <a:extLst>
              <a:ext uri="{FF2B5EF4-FFF2-40B4-BE49-F238E27FC236}">
                <a16:creationId xmlns:a16="http://schemas.microsoft.com/office/drawing/2014/main" id="{8BEC3D78-C227-4F8E-7F5D-F398FB043D20}"/>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B5806D5A-9C65-5DDA-AF7C-30CC28E9C38F}"/>
              </a:ext>
            </a:extLst>
          </p:cNvPr>
          <p:cNvSpPr txBox="1"/>
          <p:nvPr/>
        </p:nvSpPr>
        <p:spPr>
          <a:xfrm>
            <a:off x="7925522" y="2496339"/>
            <a:ext cx="2435218" cy="369332"/>
          </a:xfrm>
          <a:prstGeom prst="rect">
            <a:avLst/>
          </a:prstGeom>
          <a:noFill/>
        </p:spPr>
        <p:txBody>
          <a:bodyPr wrap="none" rtlCol="0">
            <a:spAutoFit/>
          </a:bodyPr>
          <a:lstStyle/>
          <a:p>
            <a:pPr algn="ctr"/>
            <a:r>
              <a:rPr lang="es-ES"/>
              <a:t>Paste </a:t>
            </a:r>
            <a:r>
              <a:rPr lang="es-ES" err="1"/>
              <a:t>plot</a:t>
            </a:r>
            <a:r>
              <a:rPr lang="es-ES"/>
              <a:t> </a:t>
            </a:r>
            <a:r>
              <a:rPr lang="es-ES" err="1"/>
              <a:t>of</a:t>
            </a:r>
            <a:r>
              <a:rPr lang="es-ES"/>
              <a:t> </a:t>
            </a:r>
            <a:r>
              <a:rPr lang="es-ES" err="1"/>
              <a:t>layers</a:t>
            </a:r>
            <a:r>
              <a:rPr lang="es-ES"/>
              <a:t> </a:t>
            </a:r>
            <a:r>
              <a:rPr lang="es-ES" err="1"/>
              <a:t>here</a:t>
            </a:r>
            <a:endParaRPr lang="en-US"/>
          </a:p>
        </p:txBody>
      </p:sp>
      <p:pic>
        <p:nvPicPr>
          <p:cNvPr id="5" name="Imagen 4">
            <a:extLst>
              <a:ext uri="{FF2B5EF4-FFF2-40B4-BE49-F238E27FC236}">
                <a16:creationId xmlns:a16="http://schemas.microsoft.com/office/drawing/2014/main" id="{BE756C21-2DC6-3D55-A553-63B6B02C83F3}"/>
              </a:ext>
            </a:extLst>
          </p:cNvPr>
          <p:cNvPicPr>
            <a:picLocks noChangeAspect="1"/>
          </p:cNvPicPr>
          <p:nvPr/>
        </p:nvPicPr>
        <p:blipFill>
          <a:blip r:embed="rId4"/>
          <a:stretch>
            <a:fillRect/>
          </a:stretch>
        </p:blipFill>
        <p:spPr>
          <a:xfrm>
            <a:off x="6958622" y="1398360"/>
            <a:ext cx="4495959" cy="3394008"/>
          </a:xfrm>
          <a:prstGeom prst="rect">
            <a:avLst/>
          </a:prstGeom>
        </p:spPr>
      </p:pic>
      <p:pic>
        <p:nvPicPr>
          <p:cNvPr id="11" name="Imagen 10">
            <a:extLst>
              <a:ext uri="{FF2B5EF4-FFF2-40B4-BE49-F238E27FC236}">
                <a16:creationId xmlns:a16="http://schemas.microsoft.com/office/drawing/2014/main" id="{54EC5B01-B448-C0F0-9B6F-48B5543D225A}"/>
              </a:ext>
            </a:extLst>
          </p:cNvPr>
          <p:cNvPicPr>
            <a:picLocks noChangeAspect="1"/>
          </p:cNvPicPr>
          <p:nvPr/>
        </p:nvPicPr>
        <p:blipFill>
          <a:blip r:embed="rId5"/>
          <a:stretch>
            <a:fillRect/>
          </a:stretch>
        </p:blipFill>
        <p:spPr>
          <a:xfrm>
            <a:off x="763342" y="2028209"/>
            <a:ext cx="5024773" cy="1674924"/>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D0F8CF3B-B920-DBFC-F825-0C87B51EADA7}"/>
              </a:ext>
            </a:extLst>
          </p:cNvPr>
          <p:cNvSpPr txBox="1"/>
          <p:nvPr/>
        </p:nvSpPr>
        <p:spPr>
          <a:xfrm>
            <a:off x="496014" y="681738"/>
            <a:ext cx="11199971" cy="3970318"/>
          </a:xfrm>
          <a:prstGeom prst="rect">
            <a:avLst/>
          </a:prstGeom>
          <a:solidFill>
            <a:schemeClr val="bg1">
              <a:lumMod val="95000"/>
            </a:schemeClr>
          </a:solidFill>
          <a:ln w="28575">
            <a:solidFill>
              <a:srgbClr val="E0700D"/>
            </a:solidFill>
          </a:ln>
        </p:spPr>
        <p:txBody>
          <a:bodyPr wrap="square" rtlCol="0">
            <a:spAutoFit/>
          </a:bodyPr>
          <a:lstStyle/>
          <a:p>
            <a:r>
              <a:rPr lang="en-US" sz="1200">
                <a:latin typeface="Arial" panose="020B0604020202020204" pitchFamily="34" charset="0"/>
                <a:cs typeface="Arial" panose="020B0604020202020204" pitchFamily="34" charset="0"/>
              </a:rPr>
              <a:t>For our particular PDK we find the following layers, with number and label/description:</a:t>
            </a:r>
          </a:p>
          <a:p>
            <a:endParaRPr lang="en-US" sz="1200">
              <a:latin typeface="Arial" panose="020B0604020202020204" pitchFamily="34" charset="0"/>
              <a:cs typeface="Arial" panose="020B0604020202020204" pitchFamily="34" charset="0"/>
            </a:endParaRPr>
          </a:p>
          <a:p>
            <a:pPr lvl="1"/>
            <a:r>
              <a:rPr lang="es-ES" sz="1200" b="1">
                <a:latin typeface="Arial" panose="020B0604020202020204" pitchFamily="34" charset="0"/>
                <a:cs typeface="Arial" panose="020B0604020202020204" pitchFamily="34" charset="0"/>
              </a:rPr>
              <a:t>(1, 0) WG:</a:t>
            </a:r>
            <a:r>
              <a:rPr lang="es-ES" sz="1200">
                <a:latin typeface="Arial" panose="020B0604020202020204" pitchFamily="34" charset="0"/>
                <a:cs typeface="Arial" panose="020B0604020202020204" pitchFamily="34" charset="0"/>
              </a:rPr>
              <a:t> Guía de onda principal (</a:t>
            </a:r>
            <a:r>
              <a:rPr lang="es-ES" sz="1200" err="1">
                <a:latin typeface="Arial" panose="020B0604020202020204" pitchFamily="34" charset="0"/>
                <a:cs typeface="Arial" panose="020B0604020202020204" pitchFamily="34" charset="0"/>
              </a:rPr>
              <a:t>Waveguide</a:t>
            </a:r>
            <a:r>
              <a:rPr lang="es-ES" sz="1200">
                <a:latin typeface="Arial" panose="020B0604020202020204" pitchFamily="34" charset="0"/>
                <a:cs typeface="Arial" panose="020B0604020202020204" pitchFamily="34" charset="0"/>
              </a:rPr>
              <a:t>).</a:t>
            </a:r>
          </a:p>
          <a:p>
            <a:pPr lvl="1"/>
            <a:r>
              <a:rPr lang="es-ES" sz="1200" b="1">
                <a:latin typeface="Arial" panose="020B0604020202020204" pitchFamily="34" charset="0"/>
                <a:cs typeface="Arial" panose="020B0604020202020204" pitchFamily="34" charset="0"/>
              </a:rPr>
              <a:t>(2, 0) WG_CLAD:</a:t>
            </a:r>
            <a:r>
              <a:rPr lang="es-ES" sz="1200">
                <a:latin typeface="Arial" panose="020B0604020202020204" pitchFamily="34" charset="0"/>
                <a:cs typeface="Arial" panose="020B0604020202020204" pitchFamily="34" charset="0"/>
              </a:rPr>
              <a:t> Revestimiento o </a:t>
            </a:r>
            <a:r>
              <a:rPr lang="es-ES" sz="1200" i="1" err="1">
                <a:latin typeface="Arial" panose="020B0604020202020204" pitchFamily="34" charset="0"/>
                <a:cs typeface="Arial" panose="020B0604020202020204" pitchFamily="34" charset="0"/>
              </a:rPr>
              <a:t>cladding</a:t>
            </a:r>
            <a:r>
              <a:rPr lang="es-ES" sz="1200">
                <a:latin typeface="Arial" panose="020B0604020202020204" pitchFamily="34" charset="0"/>
                <a:cs typeface="Arial" panose="020B0604020202020204" pitchFamily="34" charset="0"/>
              </a:rPr>
              <a:t> de la guía de onda.</a:t>
            </a:r>
          </a:p>
          <a:p>
            <a:pPr lvl="1"/>
            <a:r>
              <a:rPr lang="es-ES" sz="1200" b="1">
                <a:latin typeface="Arial" panose="020B0604020202020204" pitchFamily="34" charset="0"/>
                <a:cs typeface="Arial" panose="020B0604020202020204" pitchFamily="34" charset="0"/>
              </a:rPr>
              <a:t>(3, 0) WG_TRENCH:</a:t>
            </a:r>
            <a:r>
              <a:rPr lang="es-ES" sz="1200">
                <a:latin typeface="Arial" panose="020B0604020202020204" pitchFamily="34" charset="0"/>
                <a:cs typeface="Arial" panose="020B0604020202020204" pitchFamily="34" charset="0"/>
              </a:rPr>
              <a:t> Zanjas de grabado alrededor de la guía.</a:t>
            </a:r>
          </a:p>
          <a:p>
            <a:pPr lvl="1"/>
            <a:r>
              <a:rPr lang="es-ES" sz="1200" b="1">
                <a:latin typeface="Arial" panose="020B0604020202020204" pitchFamily="34" charset="0"/>
                <a:cs typeface="Arial" panose="020B0604020202020204" pitchFamily="34" charset="0"/>
              </a:rPr>
              <a:t>(39, 0) PAD:</a:t>
            </a:r>
            <a:r>
              <a:rPr lang="es-ES" sz="1200">
                <a:latin typeface="Arial" panose="020B0604020202020204" pitchFamily="34" charset="0"/>
                <a:cs typeface="Arial" panose="020B0604020202020204" pitchFamily="34" charset="0"/>
              </a:rPr>
              <a:t> Contactos (</a:t>
            </a:r>
            <a:r>
              <a:rPr lang="es-ES" sz="1200" err="1">
                <a:latin typeface="Arial" panose="020B0604020202020204" pitchFamily="34" charset="0"/>
                <a:cs typeface="Arial" panose="020B0604020202020204" pitchFamily="34" charset="0"/>
              </a:rPr>
              <a:t>pads</a:t>
            </a:r>
            <a:r>
              <a:rPr lang="es-ES" sz="1200">
                <a:latin typeface="Arial" panose="020B0604020202020204" pitchFamily="34" charset="0"/>
                <a:cs typeface="Arial" panose="020B0604020202020204" pitchFamily="34" charset="0"/>
              </a:rPr>
              <a:t>) para conexiones eléctricas externas.</a:t>
            </a:r>
          </a:p>
          <a:p>
            <a:pPr lvl="1"/>
            <a:r>
              <a:rPr lang="es-ES" sz="1200" b="1">
                <a:latin typeface="Arial" panose="020B0604020202020204" pitchFamily="34" charset="0"/>
                <a:cs typeface="Arial" panose="020B0604020202020204" pitchFamily="34" charset="0"/>
              </a:rPr>
              <a:t>(41, 0) HEATER:</a:t>
            </a:r>
            <a:r>
              <a:rPr lang="es-ES" sz="1200">
                <a:latin typeface="Arial" panose="020B0604020202020204" pitchFamily="34" charset="0"/>
                <a:cs typeface="Arial" panose="020B0604020202020204" pitchFamily="34" charset="0"/>
              </a:rPr>
              <a:t> Capa metálica para los sintonizadores térmicos (calentadores).</a:t>
            </a:r>
          </a:p>
          <a:p>
            <a:pPr lvl="1"/>
            <a:r>
              <a:rPr lang="es-ES" sz="1200" b="1">
                <a:latin typeface="Arial" panose="020B0604020202020204" pitchFamily="34" charset="0"/>
                <a:cs typeface="Arial" panose="020B0604020202020204" pitchFamily="34" charset="0"/>
              </a:rPr>
              <a:t>(43, 0) VIAC:</a:t>
            </a:r>
            <a:r>
              <a:rPr lang="es-ES" sz="1200">
                <a:latin typeface="Arial" panose="020B0604020202020204" pitchFamily="34" charset="0"/>
                <a:cs typeface="Arial" panose="020B0604020202020204" pitchFamily="34" charset="0"/>
              </a:rPr>
              <a:t> Vías de interconexión eléctrica entre capas.</a:t>
            </a:r>
          </a:p>
          <a:p>
            <a:pPr lvl="1"/>
            <a:r>
              <a:rPr lang="es-ES" sz="1200" b="1">
                <a:latin typeface="Arial" panose="020B0604020202020204" pitchFamily="34" charset="0"/>
                <a:cs typeface="Arial" panose="020B0604020202020204" pitchFamily="34" charset="0"/>
              </a:rPr>
              <a:t>(49, 0) METAL1:</a:t>
            </a:r>
            <a:r>
              <a:rPr lang="es-ES" sz="1200">
                <a:latin typeface="Arial" panose="020B0604020202020204" pitchFamily="34" charset="0"/>
                <a:cs typeface="Arial" panose="020B0604020202020204" pitchFamily="34" charset="0"/>
              </a:rPr>
              <a:t> Primera capa de enrutamiento metálico.</a:t>
            </a:r>
          </a:p>
          <a:p>
            <a:pPr lvl="1"/>
            <a:r>
              <a:rPr lang="es-ES" sz="1200" b="1">
                <a:latin typeface="Arial" panose="020B0604020202020204" pitchFamily="34" charset="0"/>
                <a:cs typeface="Arial" panose="020B0604020202020204" pitchFamily="34" charset="0"/>
              </a:rPr>
              <a:t>(51, 0) METAL2:</a:t>
            </a:r>
            <a:r>
              <a:rPr lang="es-ES" sz="1200">
                <a:latin typeface="Arial" panose="020B0604020202020204" pitchFamily="34" charset="0"/>
                <a:cs typeface="Arial" panose="020B0604020202020204" pitchFamily="34" charset="0"/>
              </a:rPr>
              <a:t> Segunda capa de enrutamiento metálico.</a:t>
            </a:r>
          </a:p>
          <a:p>
            <a:pPr lvl="1"/>
            <a:r>
              <a:rPr lang="es-ES" sz="1200" b="1">
                <a:latin typeface="Arial" panose="020B0604020202020204" pitchFamily="34" charset="0"/>
                <a:cs typeface="Arial" panose="020B0604020202020204" pitchFamily="34" charset="0"/>
              </a:rPr>
              <a:t>(64, 0) DEVREC:</a:t>
            </a:r>
            <a:r>
              <a:rPr lang="es-ES" sz="1200">
                <a:latin typeface="Arial" panose="020B0604020202020204" pitchFamily="34" charset="0"/>
                <a:cs typeface="Arial" panose="020B0604020202020204" pitchFamily="34" charset="0"/>
              </a:rPr>
              <a:t> Capa lógica para delimitar/reconocer el área del dispositivo (</a:t>
            </a:r>
            <a:r>
              <a:rPr lang="es-ES" sz="1200" err="1">
                <a:latin typeface="Arial" panose="020B0604020202020204" pitchFamily="34" charset="0"/>
                <a:cs typeface="Arial" panose="020B0604020202020204" pitchFamily="34" charset="0"/>
              </a:rPr>
              <a:t>Device</a:t>
            </a:r>
            <a:r>
              <a:rPr lang="es-ES" sz="1200">
                <a:latin typeface="Arial" panose="020B0604020202020204" pitchFamily="34" charset="0"/>
                <a:cs typeface="Arial" panose="020B0604020202020204" pitchFamily="34" charset="0"/>
              </a:rPr>
              <a:t> </a:t>
            </a:r>
            <a:r>
              <a:rPr lang="es-ES" sz="1200" err="1">
                <a:latin typeface="Arial" panose="020B0604020202020204" pitchFamily="34" charset="0"/>
                <a:cs typeface="Arial" panose="020B0604020202020204" pitchFamily="34" charset="0"/>
              </a:rPr>
              <a:t>Recognition</a:t>
            </a:r>
            <a:r>
              <a:rPr lang="es-ES" sz="1200">
                <a:latin typeface="Arial" panose="020B0604020202020204" pitchFamily="34" charset="0"/>
                <a:cs typeface="Arial" panose="020B0604020202020204" pitchFamily="34" charset="0"/>
              </a:rPr>
              <a:t>).</a:t>
            </a:r>
          </a:p>
          <a:p>
            <a:pPr lvl="1"/>
            <a:r>
              <a:rPr lang="es-ES" sz="1200" b="1">
                <a:latin typeface="Arial" panose="020B0604020202020204" pitchFamily="34" charset="0"/>
                <a:cs typeface="Arial" panose="020B0604020202020204" pitchFamily="34" charset="0"/>
              </a:rPr>
              <a:t>(66, 0) FERT / (68, 0) FERT_DARK:</a:t>
            </a:r>
            <a:r>
              <a:rPr lang="es-ES" sz="1200">
                <a:latin typeface="Arial" panose="020B0604020202020204" pitchFamily="34" charset="0"/>
                <a:cs typeface="Arial" panose="020B0604020202020204" pitchFamily="34" charset="0"/>
              </a:rPr>
              <a:t> Capas adicionales de proceso (rellenos o características de la fábrica).</a:t>
            </a:r>
          </a:p>
          <a:p>
            <a:pPr lvl="1"/>
            <a:r>
              <a:rPr lang="es-ES" sz="1200" b="1">
                <a:latin typeface="Arial" panose="020B0604020202020204" pitchFamily="34" charset="0"/>
                <a:cs typeface="Arial" panose="020B0604020202020204" pitchFamily="34" charset="0"/>
              </a:rPr>
              <a:t>(99, 0) FLOORPLAN:</a:t>
            </a:r>
            <a:r>
              <a:rPr lang="es-ES" sz="1200">
                <a:latin typeface="Arial" panose="020B0604020202020204" pitchFamily="34" charset="0"/>
                <a:cs typeface="Arial" panose="020B0604020202020204" pitchFamily="34" charset="0"/>
              </a:rPr>
              <a:t> Contorno que define el área útil y la planta del chip.</a:t>
            </a:r>
          </a:p>
          <a:p>
            <a:pPr lvl="1"/>
            <a:r>
              <a:rPr lang="es-ES" sz="1200" b="1">
                <a:latin typeface="Arial" panose="020B0604020202020204" pitchFamily="34" charset="0"/>
                <a:cs typeface="Arial" panose="020B0604020202020204" pitchFamily="34" charset="0"/>
              </a:rPr>
              <a:t>(100, 0) TEXT:</a:t>
            </a:r>
            <a:r>
              <a:rPr lang="es-ES" sz="1200">
                <a:latin typeface="Arial" panose="020B0604020202020204" pitchFamily="34" charset="0"/>
                <a:cs typeface="Arial" panose="020B0604020202020204" pitchFamily="34" charset="0"/>
              </a:rPr>
              <a:t> Capa para añadir etiquetas y texto en el </a:t>
            </a:r>
            <a:r>
              <a:rPr lang="es-ES" sz="1200" err="1">
                <a:latin typeface="Arial" panose="020B0604020202020204" pitchFamily="34" charset="0"/>
                <a:cs typeface="Arial" panose="020B0604020202020204" pitchFamily="34" charset="0"/>
              </a:rPr>
              <a:t>layout</a:t>
            </a:r>
            <a:r>
              <a:rPr lang="es-ES" sz="1200">
                <a:latin typeface="Arial" panose="020B0604020202020204" pitchFamily="34" charset="0"/>
                <a:cs typeface="Arial" panose="020B0604020202020204" pitchFamily="34" charset="0"/>
              </a:rPr>
              <a:t>.</a:t>
            </a:r>
          </a:p>
          <a:p>
            <a:pPr lvl="1"/>
            <a:r>
              <a:rPr lang="es-ES" sz="1200" b="1">
                <a:latin typeface="Arial" panose="020B0604020202020204" pitchFamily="34" charset="0"/>
                <a:cs typeface="Arial" panose="020B0604020202020204" pitchFamily="34" charset="0"/>
              </a:rPr>
              <a:t>(201, 0) DICING:</a:t>
            </a:r>
            <a:r>
              <a:rPr lang="es-ES" sz="1200">
                <a:latin typeface="Arial" panose="020B0604020202020204" pitchFamily="34" charset="0"/>
                <a:cs typeface="Arial" panose="020B0604020202020204" pitchFamily="34" charset="0"/>
              </a:rPr>
              <a:t> Líneas de corte por donde se aserrará la oblea para separar los chips.</a:t>
            </a:r>
          </a:p>
          <a:p>
            <a:endParaRPr lang="en-US" sz="1200">
              <a:latin typeface="Arial" panose="020B0604020202020204" pitchFamily="34" charset="0"/>
              <a:cs typeface="Arial" panose="020B0604020202020204" pitchFamily="34" charset="0"/>
            </a:endParaRPr>
          </a:p>
          <a:p>
            <a:endParaRPr lang="en-US" sz="1200">
              <a:latin typeface="Arial" panose="020B0604020202020204" pitchFamily="34" charset="0"/>
              <a:cs typeface="Arial" panose="020B0604020202020204" pitchFamily="34" charset="0"/>
            </a:endParaRPr>
          </a:p>
          <a:p>
            <a:endParaRPr lang="en-US" sz="1200">
              <a:latin typeface="Arial" panose="020B0604020202020204" pitchFamily="34" charset="0"/>
              <a:cs typeface="Arial" panose="020B0604020202020204" pitchFamily="34" charset="0"/>
            </a:endParaRPr>
          </a:p>
          <a:p>
            <a:endParaRPr lang="en-US" sz="1200">
              <a:latin typeface="Arial" panose="020B0604020202020204" pitchFamily="34" charset="0"/>
              <a:cs typeface="Arial" panose="020B0604020202020204" pitchFamily="34" charset="0"/>
            </a:endParaRPr>
          </a:p>
          <a:p>
            <a:endParaRPr lang="en-US" sz="1200">
              <a:latin typeface="Arial" panose="020B0604020202020204" pitchFamily="34" charset="0"/>
              <a:cs typeface="Arial" panose="020B0604020202020204" pitchFamily="34" charset="0"/>
            </a:endParaRPr>
          </a:p>
          <a:p>
            <a:endParaRPr 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0757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21758-3D0C-3510-194A-4075C73D458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F925C6-A9EE-0450-6CF3-EB5E905BE7E0}"/>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a:t>Learning outcome #1b – Notebook section 1. Technology – </a:t>
            </a:r>
            <a:r>
              <a:rPr lang="en-US" sz="2500">
                <a:solidFill>
                  <a:srgbClr val="FF0000"/>
                </a:solidFill>
              </a:rPr>
              <a:t>1 slide per component</a:t>
            </a:r>
            <a:br>
              <a:rPr lang="en-US" sz="2500"/>
            </a:br>
            <a:r>
              <a:rPr lang="en-US" sz="1800" b="0" i="1"/>
              <a:t>“Use your design results from Lab2 and Lab3 to create layout instances of your designed components: DCs, MMIs, MZIs &amp; Ring Resonators” DC</a:t>
            </a:r>
            <a:endParaRPr sz="2500" b="0" i="1">
              <a:latin typeface="+mj-lt"/>
              <a:cs typeface="Lucida Sans"/>
            </a:endParaRPr>
          </a:p>
        </p:txBody>
      </p:sp>
      <p:pic>
        <p:nvPicPr>
          <p:cNvPr id="83" name="Gráfico 82">
            <a:extLst>
              <a:ext uri="{FF2B5EF4-FFF2-40B4-BE49-F238E27FC236}">
                <a16:creationId xmlns:a16="http://schemas.microsoft.com/office/drawing/2014/main" id="{61751C67-979A-7D64-9474-F594568485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5A815B6-7BA3-E2CF-377E-EACA0F621FAA}"/>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018AEC9F-5174-0EEA-5CD3-65515392F16F}"/>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A1BE4500-9BE4-025B-9167-E8AC6466B028}"/>
              </a:ext>
            </a:extLst>
          </p:cNvPr>
          <p:cNvSpPr txBox="1"/>
          <p:nvPr/>
        </p:nvSpPr>
        <p:spPr>
          <a:xfrm>
            <a:off x="609441" y="4860334"/>
            <a:ext cx="11199971" cy="646331"/>
          </a:xfrm>
          <a:prstGeom prst="rect">
            <a:avLst/>
          </a:prstGeom>
          <a:solidFill>
            <a:schemeClr val="bg1">
              <a:lumMod val="95000"/>
            </a:schemeClr>
          </a:solidFill>
          <a:ln w="28575">
            <a:solidFill>
              <a:srgbClr val="E0700D"/>
            </a:solidFill>
          </a:ln>
        </p:spPr>
        <p:txBody>
          <a:bodyPr wrap="square" rtlCol="0">
            <a:spAutoFit/>
          </a:bodyPr>
          <a:lstStyle/>
          <a:p>
            <a:pPr algn="just"/>
            <a:r>
              <a:rPr lang="es-ES" sz="1200" b="0" i="0" u="none" strike="noStrike">
                <a:solidFill>
                  <a:srgbClr val="000000"/>
                </a:solidFill>
                <a:effectLst/>
                <a:latin typeface="Arial" panose="020B0604020202020204" pitchFamily="34" charset="0"/>
                <a:cs typeface="Arial" panose="020B0604020202020204" pitchFamily="34" charset="0"/>
              </a:rPr>
              <a:t>Este es el acoplador direccional (DC) que diseñamos en el Laboratorio 2. Es un dispositivo de 2x2 basado en el acoplamiento evanescente entre guías próximas, con una constante de acoplamiento objetivo K = 0.5. Las dimensiones relevantes son un ancho de guía W = 1.0 µm, un Gap = 0.6 µm y una longitud de acoplamiento L = 93.83 µm. Las posiciones de las entradas/salidas (I/O) respecto al centro están situadas a +/- 5.8 µm.</a:t>
            </a:r>
            <a:endParaRPr lang="en-US" sz="120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FB364273-7E07-9E83-F4A6-1AFD1AEFE243}"/>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96224819-75AC-EB82-A160-7A3DE5BF0740}"/>
              </a:ext>
            </a:extLst>
          </p:cNvPr>
          <p:cNvSpPr txBox="1"/>
          <p:nvPr/>
        </p:nvSpPr>
        <p:spPr>
          <a:xfrm>
            <a:off x="2375901" y="2494306"/>
            <a:ext cx="1799660" cy="646331"/>
          </a:xfrm>
          <a:prstGeom prst="rect">
            <a:avLst/>
          </a:prstGeom>
          <a:noFill/>
        </p:spPr>
        <p:txBody>
          <a:bodyPr wrap="none" rtlCol="0">
            <a:spAutoFit/>
          </a:bodyPr>
          <a:lstStyle/>
          <a:p>
            <a:pPr algn="ctr"/>
            <a:r>
              <a:rPr lang="en-US"/>
              <a:t>Component code</a:t>
            </a:r>
          </a:p>
          <a:p>
            <a:pPr algn="ctr"/>
            <a:endParaRPr lang="en-US"/>
          </a:p>
        </p:txBody>
      </p:sp>
      <p:sp>
        <p:nvSpPr>
          <p:cNvPr id="8" name="Rectángulo 7">
            <a:extLst>
              <a:ext uri="{FF2B5EF4-FFF2-40B4-BE49-F238E27FC236}">
                <a16:creationId xmlns:a16="http://schemas.microsoft.com/office/drawing/2014/main" id="{8C1E968B-0AE0-37CB-7468-A50896329E70}"/>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9877566-4E2F-8CE5-3749-EB4B91552614}"/>
              </a:ext>
            </a:extLst>
          </p:cNvPr>
          <p:cNvSpPr txBox="1"/>
          <p:nvPr/>
        </p:nvSpPr>
        <p:spPr>
          <a:xfrm>
            <a:off x="7956912" y="2496339"/>
            <a:ext cx="2372445" cy="369332"/>
          </a:xfrm>
          <a:prstGeom prst="rect">
            <a:avLst/>
          </a:prstGeom>
          <a:noFill/>
        </p:spPr>
        <p:txBody>
          <a:bodyPr wrap="none" rtlCol="0">
            <a:spAutoFit/>
          </a:bodyPr>
          <a:lstStyle/>
          <a:p>
            <a:pPr algn="ctr"/>
            <a:r>
              <a:rPr lang="es-ES" err="1"/>
              <a:t>Component</a:t>
            </a:r>
            <a:r>
              <a:rPr lang="es-ES"/>
              <a:t> </a:t>
            </a:r>
            <a:r>
              <a:rPr lang="es-ES" err="1"/>
              <a:t>screenshot</a:t>
            </a:r>
            <a:endParaRPr lang="en-US"/>
          </a:p>
        </p:txBody>
      </p:sp>
      <p:pic>
        <p:nvPicPr>
          <p:cNvPr id="5" name="Imagen 4">
            <a:extLst>
              <a:ext uri="{FF2B5EF4-FFF2-40B4-BE49-F238E27FC236}">
                <a16:creationId xmlns:a16="http://schemas.microsoft.com/office/drawing/2014/main" id="{AEF16256-2B4C-09D9-5E31-C8171230DF42}"/>
              </a:ext>
            </a:extLst>
          </p:cNvPr>
          <p:cNvPicPr>
            <a:picLocks noChangeAspect="1"/>
          </p:cNvPicPr>
          <p:nvPr/>
        </p:nvPicPr>
        <p:blipFill>
          <a:blip r:embed="rId4"/>
          <a:stretch>
            <a:fillRect/>
          </a:stretch>
        </p:blipFill>
        <p:spPr>
          <a:xfrm>
            <a:off x="7062380" y="1441173"/>
            <a:ext cx="4161491" cy="3141518"/>
          </a:xfrm>
          <a:prstGeom prst="rect">
            <a:avLst/>
          </a:prstGeom>
        </p:spPr>
      </p:pic>
      <p:pic>
        <p:nvPicPr>
          <p:cNvPr id="10" name="Imagen 9">
            <a:extLst>
              <a:ext uri="{FF2B5EF4-FFF2-40B4-BE49-F238E27FC236}">
                <a16:creationId xmlns:a16="http://schemas.microsoft.com/office/drawing/2014/main" id="{E9B97C61-753C-3B6B-6E61-9042861D56A9}"/>
              </a:ext>
            </a:extLst>
          </p:cNvPr>
          <p:cNvPicPr>
            <a:picLocks noChangeAspect="1"/>
          </p:cNvPicPr>
          <p:nvPr/>
        </p:nvPicPr>
        <p:blipFill>
          <a:blip r:embed="rId5"/>
          <a:stretch>
            <a:fillRect/>
          </a:stretch>
        </p:blipFill>
        <p:spPr>
          <a:xfrm>
            <a:off x="684278" y="2358373"/>
            <a:ext cx="5207022" cy="664084"/>
          </a:xfrm>
          <a:prstGeom prst="rect">
            <a:avLst/>
          </a:prstGeom>
        </p:spPr>
      </p:pic>
    </p:spTree>
    <p:extLst>
      <p:ext uri="{BB962C8B-B14F-4D97-AF65-F5344CB8AC3E}">
        <p14:creationId xmlns:p14="http://schemas.microsoft.com/office/powerpoint/2010/main" val="1196424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060F6-BD07-A947-E379-15AACF63D20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9A2F38B-1B24-D1DF-7964-40C1B11CDA95}"/>
              </a:ext>
            </a:extLst>
          </p:cNvPr>
          <p:cNvSpPr txBox="1">
            <a:spLocks noGrp="1"/>
          </p:cNvSpPr>
          <p:nvPr>
            <p:ph type="title"/>
          </p:nvPr>
        </p:nvSpPr>
        <p:spPr>
          <a:xfrm>
            <a:off x="685800" y="408883"/>
            <a:ext cx="10994410" cy="674544"/>
          </a:xfrm>
          <a:prstGeom prst="rect">
            <a:avLst/>
          </a:prstGeom>
        </p:spPr>
        <p:txBody>
          <a:bodyPr vert="horz" wrap="square" lIns="0" tIns="12700" rIns="0" bIns="0" rtlCol="0">
            <a:spAutoFit/>
          </a:bodyPr>
          <a:lstStyle/>
          <a:p>
            <a:pPr marL="12700" algn="just">
              <a:lnSpc>
                <a:spcPct val="100000"/>
              </a:lnSpc>
              <a:spcBef>
                <a:spcPts val="100"/>
              </a:spcBef>
            </a:pPr>
            <a:r>
              <a:rPr lang="en-US" sz="2500"/>
              <a:t>Learning outcome #1b – Notebook section 1. Technology – </a:t>
            </a:r>
            <a:r>
              <a:rPr lang="en-US" sz="2500">
                <a:solidFill>
                  <a:srgbClr val="FF0000"/>
                </a:solidFill>
              </a:rPr>
              <a:t>1 slide per component</a:t>
            </a:r>
            <a:br>
              <a:rPr lang="en-US" sz="2500"/>
            </a:br>
            <a:r>
              <a:rPr lang="en-US" sz="1800" b="0" i="1"/>
              <a:t>MMIs 1x2</a:t>
            </a:r>
            <a:endParaRPr sz="2500" b="0" i="1">
              <a:latin typeface="+mj-lt"/>
              <a:cs typeface="Lucida Sans"/>
            </a:endParaRPr>
          </a:p>
        </p:txBody>
      </p:sp>
      <p:pic>
        <p:nvPicPr>
          <p:cNvPr id="83" name="Gráfico 82">
            <a:extLst>
              <a:ext uri="{FF2B5EF4-FFF2-40B4-BE49-F238E27FC236}">
                <a16:creationId xmlns:a16="http://schemas.microsoft.com/office/drawing/2014/main" id="{F6096F01-F6DF-D8AC-A6ED-D38AB708E2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55FDEB8-E84D-A477-9E69-23ECBBBDC37F}"/>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D7E2B829-9096-E094-0C25-BEB77F198A6C}"/>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4FC0EFBC-7BC6-982B-AD1B-282C2FD7F5C7}"/>
              </a:ext>
            </a:extLst>
          </p:cNvPr>
          <p:cNvSpPr txBox="1"/>
          <p:nvPr/>
        </p:nvSpPr>
        <p:spPr>
          <a:xfrm>
            <a:off x="609441" y="4860334"/>
            <a:ext cx="11199971" cy="646331"/>
          </a:xfrm>
          <a:prstGeom prst="rect">
            <a:avLst/>
          </a:prstGeom>
          <a:solidFill>
            <a:schemeClr val="bg1">
              <a:lumMod val="95000"/>
            </a:schemeClr>
          </a:solidFill>
          <a:ln w="28575">
            <a:solidFill>
              <a:srgbClr val="E0700D"/>
            </a:solidFill>
          </a:ln>
        </p:spPr>
        <p:txBody>
          <a:bodyPr wrap="square" rtlCol="0">
            <a:spAutoFit/>
          </a:bodyPr>
          <a:lstStyle/>
          <a:p>
            <a:pPr algn="just"/>
            <a:r>
              <a:rPr lang="es-ES" sz="1200" b="0" i="0" u="none" strike="noStrike">
                <a:solidFill>
                  <a:srgbClr val="000000"/>
                </a:solidFill>
                <a:effectLst/>
                <a:latin typeface="Arial" panose="020B0604020202020204" pitchFamily="34" charset="0"/>
                <a:cs typeface="Arial" panose="020B0604020202020204" pitchFamily="34" charset="0"/>
              </a:rPr>
              <a:t>Este es el divisor MMI que diseñamos en el Laboratorio 2. Es un dispositivo de 1x2 basado en interferencia simétrica (</a:t>
            </a:r>
            <a:r>
              <a:rPr lang="es-ES" sz="1200" b="0" i="1" u="none" strike="noStrike" err="1">
                <a:solidFill>
                  <a:srgbClr val="000000"/>
                </a:solidFill>
                <a:effectLst/>
                <a:latin typeface="Arial" panose="020B0604020202020204" pitchFamily="34" charset="0"/>
                <a:cs typeface="Arial" panose="020B0604020202020204" pitchFamily="34" charset="0"/>
              </a:rPr>
              <a:t>symmetric</a:t>
            </a:r>
            <a:r>
              <a:rPr lang="es-ES" sz="1200" b="0" i="1" u="none" strike="noStrike">
                <a:solidFill>
                  <a:srgbClr val="000000"/>
                </a:solidFill>
                <a:effectLst/>
                <a:latin typeface="Arial" panose="020B0604020202020204" pitchFamily="34" charset="0"/>
                <a:cs typeface="Arial" panose="020B0604020202020204" pitchFamily="34" charset="0"/>
              </a:rPr>
              <a:t> </a:t>
            </a:r>
            <a:r>
              <a:rPr lang="es-ES" sz="1200" b="0" i="1" u="none" strike="noStrike" err="1">
                <a:solidFill>
                  <a:srgbClr val="000000"/>
                </a:solidFill>
                <a:effectLst/>
                <a:latin typeface="Arial" panose="020B0604020202020204" pitchFamily="34" charset="0"/>
                <a:cs typeface="Arial" panose="020B0604020202020204" pitchFamily="34" charset="0"/>
              </a:rPr>
              <a:t>interference</a:t>
            </a:r>
            <a:r>
              <a:rPr lang="es-ES" sz="1200" b="0" i="0" u="none" strike="noStrike">
                <a:solidFill>
                  <a:srgbClr val="000000"/>
                </a:solidFill>
                <a:effectLst/>
                <a:latin typeface="Arial" panose="020B0604020202020204" pitchFamily="34" charset="0"/>
                <a:cs typeface="Arial" panose="020B0604020202020204" pitchFamily="34" charset="0"/>
              </a:rPr>
              <a:t>), diseñado para dividir la potencia de entrada equitativamente (50:50). Las dimensiones relevantes son un ancho W_MMI = [XX] µm y una longitud L_MMI = 25.055 µm. Las posiciones de las salidas (I/O) respecto al eje central están situadas a +/- [</a:t>
            </a:r>
            <a:r>
              <a:rPr lang="es-ES" sz="1200" b="0" i="0" u="none" strike="noStrike" err="1">
                <a:solidFill>
                  <a:srgbClr val="000000"/>
                </a:solidFill>
                <a:effectLst/>
                <a:latin typeface="Arial" panose="020B0604020202020204" pitchFamily="34" charset="0"/>
                <a:cs typeface="Arial" panose="020B0604020202020204" pitchFamily="34" charset="0"/>
              </a:rPr>
              <a:t>dY</a:t>
            </a:r>
            <a:r>
              <a:rPr lang="es-ES" sz="1200" b="0" i="0" u="none" strike="noStrike">
                <a:solidFill>
                  <a:srgbClr val="000000"/>
                </a:solidFill>
                <a:effectLst/>
                <a:latin typeface="Arial" panose="020B0604020202020204" pitchFamily="34" charset="0"/>
                <a:cs typeface="Arial" panose="020B0604020202020204" pitchFamily="34" charset="0"/>
              </a:rPr>
              <a:t>] µm.</a:t>
            </a:r>
            <a:endParaRPr lang="en-US" sz="120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CAA27068-CC7A-34F7-992E-857BA493D4F2}"/>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47D2637C-E726-5BB1-A0AD-E2A7280BC263}"/>
              </a:ext>
            </a:extLst>
          </p:cNvPr>
          <p:cNvSpPr txBox="1"/>
          <p:nvPr/>
        </p:nvSpPr>
        <p:spPr>
          <a:xfrm>
            <a:off x="2375901" y="2494306"/>
            <a:ext cx="1799660" cy="646331"/>
          </a:xfrm>
          <a:prstGeom prst="rect">
            <a:avLst/>
          </a:prstGeom>
          <a:noFill/>
        </p:spPr>
        <p:txBody>
          <a:bodyPr wrap="none" rtlCol="0">
            <a:spAutoFit/>
          </a:bodyPr>
          <a:lstStyle/>
          <a:p>
            <a:pPr algn="ctr"/>
            <a:r>
              <a:rPr lang="en-US"/>
              <a:t>Component code</a:t>
            </a:r>
          </a:p>
          <a:p>
            <a:pPr algn="ctr"/>
            <a:endParaRPr lang="en-US"/>
          </a:p>
        </p:txBody>
      </p:sp>
      <p:sp>
        <p:nvSpPr>
          <p:cNvPr id="8" name="Rectángulo 7">
            <a:extLst>
              <a:ext uri="{FF2B5EF4-FFF2-40B4-BE49-F238E27FC236}">
                <a16:creationId xmlns:a16="http://schemas.microsoft.com/office/drawing/2014/main" id="{3B5EC8B6-9BD8-5903-C6F2-A372BCDB3705}"/>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0618BB9-D823-0311-27CB-0633B68F81D7}"/>
              </a:ext>
            </a:extLst>
          </p:cNvPr>
          <p:cNvSpPr txBox="1"/>
          <p:nvPr/>
        </p:nvSpPr>
        <p:spPr>
          <a:xfrm>
            <a:off x="7956912" y="2496339"/>
            <a:ext cx="2372445" cy="369332"/>
          </a:xfrm>
          <a:prstGeom prst="rect">
            <a:avLst/>
          </a:prstGeom>
          <a:noFill/>
        </p:spPr>
        <p:txBody>
          <a:bodyPr wrap="none" rtlCol="0">
            <a:spAutoFit/>
          </a:bodyPr>
          <a:lstStyle/>
          <a:p>
            <a:pPr algn="ctr"/>
            <a:r>
              <a:rPr lang="es-ES" err="1"/>
              <a:t>Component</a:t>
            </a:r>
            <a:r>
              <a:rPr lang="es-ES"/>
              <a:t> </a:t>
            </a:r>
            <a:r>
              <a:rPr lang="es-ES" err="1"/>
              <a:t>screenshot</a:t>
            </a:r>
            <a:endParaRPr lang="en-US"/>
          </a:p>
        </p:txBody>
      </p:sp>
      <p:pic>
        <p:nvPicPr>
          <p:cNvPr id="10" name="Imagen 9">
            <a:extLst>
              <a:ext uri="{FF2B5EF4-FFF2-40B4-BE49-F238E27FC236}">
                <a16:creationId xmlns:a16="http://schemas.microsoft.com/office/drawing/2014/main" id="{1D0749FB-E234-AF96-F454-E8BF1F778F1B}"/>
              </a:ext>
            </a:extLst>
          </p:cNvPr>
          <p:cNvPicPr>
            <a:picLocks noChangeAspect="1"/>
          </p:cNvPicPr>
          <p:nvPr/>
        </p:nvPicPr>
        <p:blipFill>
          <a:blip r:embed="rId4"/>
          <a:stretch>
            <a:fillRect/>
          </a:stretch>
        </p:blipFill>
        <p:spPr>
          <a:xfrm>
            <a:off x="6797437" y="1443653"/>
            <a:ext cx="4372060" cy="3300477"/>
          </a:xfrm>
          <a:prstGeom prst="rect">
            <a:avLst/>
          </a:prstGeom>
        </p:spPr>
      </p:pic>
      <p:pic>
        <p:nvPicPr>
          <p:cNvPr id="5" name="Imagen 4">
            <a:extLst>
              <a:ext uri="{FF2B5EF4-FFF2-40B4-BE49-F238E27FC236}">
                <a16:creationId xmlns:a16="http://schemas.microsoft.com/office/drawing/2014/main" id="{A4F2C9B2-3F1E-F2A8-5C79-EC384D28F82F}"/>
              </a:ext>
            </a:extLst>
          </p:cNvPr>
          <p:cNvPicPr>
            <a:picLocks noChangeAspect="1"/>
          </p:cNvPicPr>
          <p:nvPr/>
        </p:nvPicPr>
        <p:blipFill>
          <a:blip r:embed="rId5"/>
          <a:stretch>
            <a:fillRect/>
          </a:stretch>
        </p:blipFill>
        <p:spPr>
          <a:xfrm>
            <a:off x="744149" y="2494306"/>
            <a:ext cx="5063153" cy="1233146"/>
          </a:xfrm>
          <a:prstGeom prst="rect">
            <a:avLst/>
          </a:prstGeom>
        </p:spPr>
      </p:pic>
    </p:spTree>
    <p:extLst>
      <p:ext uri="{BB962C8B-B14F-4D97-AF65-F5344CB8AC3E}">
        <p14:creationId xmlns:p14="http://schemas.microsoft.com/office/powerpoint/2010/main" val="2174244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D69E1-337B-7289-D46E-100D6711455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208E81-99DF-DCCA-8F7D-36A3BF1536CB}"/>
              </a:ext>
            </a:extLst>
          </p:cNvPr>
          <p:cNvSpPr txBox="1">
            <a:spLocks noGrp="1"/>
          </p:cNvSpPr>
          <p:nvPr>
            <p:ph type="title"/>
          </p:nvPr>
        </p:nvSpPr>
        <p:spPr>
          <a:xfrm>
            <a:off x="685800" y="408883"/>
            <a:ext cx="10994410" cy="674544"/>
          </a:xfrm>
          <a:prstGeom prst="rect">
            <a:avLst/>
          </a:prstGeom>
        </p:spPr>
        <p:txBody>
          <a:bodyPr vert="horz" wrap="square" lIns="0" tIns="12700" rIns="0" bIns="0" rtlCol="0">
            <a:spAutoFit/>
          </a:bodyPr>
          <a:lstStyle/>
          <a:p>
            <a:pPr marL="12700" algn="just">
              <a:lnSpc>
                <a:spcPct val="100000"/>
              </a:lnSpc>
              <a:spcBef>
                <a:spcPts val="100"/>
              </a:spcBef>
            </a:pPr>
            <a:r>
              <a:rPr lang="en-US" sz="2500"/>
              <a:t>Learning outcome #1b – Notebook section 1. Technology – </a:t>
            </a:r>
            <a:r>
              <a:rPr lang="en-US" sz="2500">
                <a:solidFill>
                  <a:srgbClr val="FF0000"/>
                </a:solidFill>
              </a:rPr>
              <a:t>1 slide per component</a:t>
            </a:r>
            <a:br>
              <a:rPr lang="en-US" sz="2500"/>
            </a:br>
            <a:r>
              <a:rPr lang="en-US" sz="1800" b="0" i="1"/>
              <a:t>MMIs 2x2</a:t>
            </a:r>
            <a:endParaRPr sz="2500" b="0" i="1">
              <a:latin typeface="+mj-lt"/>
              <a:cs typeface="Lucida Sans"/>
            </a:endParaRPr>
          </a:p>
        </p:txBody>
      </p:sp>
      <p:pic>
        <p:nvPicPr>
          <p:cNvPr id="83" name="Gráfico 82">
            <a:extLst>
              <a:ext uri="{FF2B5EF4-FFF2-40B4-BE49-F238E27FC236}">
                <a16:creationId xmlns:a16="http://schemas.microsoft.com/office/drawing/2014/main" id="{11B0B490-9569-F428-788A-8944701279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17216A7-7B0F-1865-D5A7-23928A019DCD}"/>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0074D2A4-6875-EC6A-AC6E-E0C9A88457C7}"/>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B4A50A8C-7730-0000-F0BC-010B4D9F48E5}"/>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i="0" u="none" strike="noStrike">
                <a:solidFill>
                  <a:srgbClr val="000000"/>
                </a:solidFill>
                <a:effectLst/>
                <a:latin typeface="Arial" panose="020B0604020202020204" pitchFamily="34" charset="0"/>
                <a:cs typeface="Arial" panose="020B0604020202020204" pitchFamily="34" charset="0"/>
              </a:rPr>
              <a:t>Este es el acoplador e interferómetro MMI de 2x2 que diseñamos durante el Laboratorio 2 , un dispositivo óptico integrado basado en el mecanismo de interferencia pareada (</a:t>
            </a:r>
            <a:r>
              <a:rPr lang="es-ES" sz="1200" i="1" u="none" strike="noStrike" err="1">
                <a:solidFill>
                  <a:srgbClr val="000000"/>
                </a:solidFill>
                <a:effectLst/>
                <a:latin typeface="Arial" panose="020B0604020202020204" pitchFamily="34" charset="0"/>
                <a:cs typeface="Arial" panose="020B0604020202020204" pitchFamily="34" charset="0"/>
              </a:rPr>
              <a:t>paired</a:t>
            </a:r>
            <a:r>
              <a:rPr lang="es-ES" sz="1200" i="1" u="none" strike="noStrike">
                <a:solidFill>
                  <a:srgbClr val="000000"/>
                </a:solidFill>
                <a:effectLst/>
                <a:latin typeface="Arial" panose="020B0604020202020204" pitchFamily="34" charset="0"/>
                <a:cs typeface="Arial" panose="020B0604020202020204" pitchFamily="34" charset="0"/>
              </a:rPr>
              <a:t> </a:t>
            </a:r>
            <a:r>
              <a:rPr lang="es-ES" sz="1200" i="1" u="none" strike="noStrike" err="1">
                <a:solidFill>
                  <a:srgbClr val="000000"/>
                </a:solidFill>
                <a:effectLst/>
                <a:latin typeface="Arial" panose="020B0604020202020204" pitchFamily="34" charset="0"/>
                <a:cs typeface="Arial" panose="020B0604020202020204" pitchFamily="34" charset="0"/>
              </a:rPr>
              <a:t>interference</a:t>
            </a:r>
            <a:r>
              <a:rPr lang="es-ES" sz="1200" i="0" u="none" strike="noStrike">
                <a:solidFill>
                  <a:srgbClr val="000000"/>
                </a:solidFill>
                <a:effectLst/>
                <a:latin typeface="Arial" panose="020B0604020202020204" pitchFamily="34" charset="0"/>
                <a:cs typeface="Arial" panose="020B0604020202020204" pitchFamily="34" charset="0"/>
              </a:rPr>
              <a:t>) que tiene como objetivo dividir o combinar la señal con una constante de acoplamiento de diseño de K=0.5. Para la generación de su </a:t>
            </a:r>
            <a:r>
              <a:rPr lang="es-ES" sz="1200" i="0" u="none" strike="noStrike" err="1">
                <a:solidFill>
                  <a:srgbClr val="000000"/>
                </a:solidFill>
                <a:effectLst/>
                <a:latin typeface="Arial" panose="020B0604020202020204" pitchFamily="34" charset="0"/>
                <a:cs typeface="Arial" panose="020B0604020202020204" pitchFamily="34" charset="0"/>
              </a:rPr>
              <a:t>layout</a:t>
            </a:r>
            <a:r>
              <a:rPr lang="es-ES" sz="1200" i="0" u="none" strike="noStrike">
                <a:solidFill>
                  <a:srgbClr val="000000"/>
                </a:solidFill>
                <a:effectLst/>
                <a:latin typeface="Arial" panose="020B0604020202020204" pitchFamily="34" charset="0"/>
                <a:cs typeface="Arial" panose="020B0604020202020204" pitchFamily="34" charset="0"/>
              </a:rPr>
              <a:t> geométrico en el entorno de diseño, el bloque de código de Python hace uso de la función de celda cells.mmi2x2, reutilizando la longitud paramétrica exacta que optimizamos en las simulaciones de propagación EME. De esta manera, los parámetros estructurales críticos que definen el componente quedan establecidos por un ancho de la región multimodo de W_​MMI=6.6 \</a:t>
            </a:r>
            <a:r>
              <a:rPr lang="es-ES" sz="1200" i="0" u="none" strike="noStrike" err="1">
                <a:solidFill>
                  <a:srgbClr val="000000"/>
                </a:solidFill>
                <a:effectLst/>
                <a:latin typeface="Arial" panose="020B0604020202020204" pitchFamily="34" charset="0"/>
                <a:cs typeface="Arial" panose="020B0604020202020204" pitchFamily="34" charset="0"/>
              </a:rPr>
              <a:t>mum</a:t>
            </a:r>
            <a:r>
              <a:rPr lang="es-ES" sz="1200" i="0" u="none" strike="noStrike">
                <a:solidFill>
                  <a:srgbClr val="000000"/>
                </a:solidFill>
                <a:effectLst/>
                <a:latin typeface="Arial" panose="020B0604020202020204" pitchFamily="34" charset="0"/>
                <a:cs typeface="Arial" panose="020B0604020202020204" pitchFamily="34" charset="0"/>
              </a:rPr>
              <a:t> , una longitud total de cuerpo de L_​MMI=34.518 \</a:t>
            </a:r>
            <a:r>
              <a:rPr lang="es-ES" sz="1200" i="0" u="none" strike="noStrike" err="1">
                <a:solidFill>
                  <a:srgbClr val="000000"/>
                </a:solidFill>
                <a:effectLst/>
                <a:latin typeface="Arial" panose="020B0604020202020204" pitchFamily="34" charset="0"/>
                <a:cs typeface="Arial" panose="020B0604020202020204" pitchFamily="34" charset="0"/>
              </a:rPr>
              <a:t>mum</a:t>
            </a:r>
            <a:r>
              <a:rPr lang="es-ES" sz="1200" i="0" u="none" strike="noStrike">
                <a:solidFill>
                  <a:srgbClr val="000000"/>
                </a:solidFill>
                <a:effectLst/>
                <a:latin typeface="Arial" panose="020B0604020202020204" pitchFamily="34" charset="0"/>
                <a:cs typeface="Arial" panose="020B0604020202020204" pitchFamily="34" charset="0"/>
              </a:rPr>
              <a:t> , y una separación de los puertos de entrada y salida (I/O) ubicados simétricamente con respecto al eje central a una distancia de ±1.1 \</a:t>
            </a:r>
            <a:r>
              <a:rPr lang="es-ES" sz="1200" i="0" u="none" strike="noStrike" err="1">
                <a:solidFill>
                  <a:srgbClr val="000000"/>
                </a:solidFill>
                <a:effectLst/>
                <a:latin typeface="Arial" panose="020B0604020202020204" pitchFamily="34" charset="0"/>
                <a:cs typeface="Arial" panose="020B0604020202020204" pitchFamily="34" charset="0"/>
              </a:rPr>
              <a:t>mum</a:t>
            </a:r>
            <a:r>
              <a:rPr lang="es-ES" sz="1200" i="0" u="none" strike="noStrike">
                <a:solidFill>
                  <a:srgbClr val="000000"/>
                </a:solidFill>
                <a:effectLst/>
                <a:latin typeface="Arial" panose="020B0604020202020204" pitchFamily="34" charset="0"/>
                <a:cs typeface="Arial" panose="020B0604020202020204" pitchFamily="34" charset="0"/>
              </a:rPr>
              <a:t>.</a:t>
            </a:r>
            <a:endParaRPr lang="en-US" sz="120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63B96D26-21A3-BEE7-B8CF-BA8FA7058B41}"/>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8204AE4-E813-6228-C287-815CDBAB8B5D}"/>
              </a:ext>
            </a:extLst>
          </p:cNvPr>
          <p:cNvSpPr txBox="1"/>
          <p:nvPr/>
        </p:nvSpPr>
        <p:spPr>
          <a:xfrm>
            <a:off x="2375901" y="2494306"/>
            <a:ext cx="1799660" cy="646331"/>
          </a:xfrm>
          <a:prstGeom prst="rect">
            <a:avLst/>
          </a:prstGeom>
          <a:noFill/>
        </p:spPr>
        <p:txBody>
          <a:bodyPr wrap="none" rtlCol="0">
            <a:spAutoFit/>
          </a:bodyPr>
          <a:lstStyle/>
          <a:p>
            <a:pPr algn="ctr"/>
            <a:r>
              <a:rPr lang="en-US"/>
              <a:t>Component code</a:t>
            </a:r>
          </a:p>
          <a:p>
            <a:pPr algn="ctr"/>
            <a:endParaRPr lang="en-US"/>
          </a:p>
        </p:txBody>
      </p:sp>
      <p:sp>
        <p:nvSpPr>
          <p:cNvPr id="8" name="Rectángulo 7">
            <a:extLst>
              <a:ext uri="{FF2B5EF4-FFF2-40B4-BE49-F238E27FC236}">
                <a16:creationId xmlns:a16="http://schemas.microsoft.com/office/drawing/2014/main" id="{F03B067E-422E-03DA-0BC0-60BFEFCF6E65}"/>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8BF3623-8DB3-7FF6-3FF5-90C28FA885D5}"/>
              </a:ext>
            </a:extLst>
          </p:cNvPr>
          <p:cNvSpPr txBox="1"/>
          <p:nvPr/>
        </p:nvSpPr>
        <p:spPr>
          <a:xfrm>
            <a:off x="7956912" y="2496339"/>
            <a:ext cx="2372445" cy="369332"/>
          </a:xfrm>
          <a:prstGeom prst="rect">
            <a:avLst/>
          </a:prstGeom>
          <a:noFill/>
        </p:spPr>
        <p:txBody>
          <a:bodyPr wrap="none" rtlCol="0">
            <a:spAutoFit/>
          </a:bodyPr>
          <a:lstStyle/>
          <a:p>
            <a:pPr algn="ctr"/>
            <a:r>
              <a:rPr lang="es-ES" err="1"/>
              <a:t>Component</a:t>
            </a:r>
            <a:r>
              <a:rPr lang="es-ES"/>
              <a:t> </a:t>
            </a:r>
            <a:r>
              <a:rPr lang="es-ES" err="1"/>
              <a:t>screenshot</a:t>
            </a:r>
            <a:endParaRPr lang="en-US"/>
          </a:p>
        </p:txBody>
      </p:sp>
      <p:pic>
        <p:nvPicPr>
          <p:cNvPr id="12" name="Imagen 11">
            <a:extLst>
              <a:ext uri="{FF2B5EF4-FFF2-40B4-BE49-F238E27FC236}">
                <a16:creationId xmlns:a16="http://schemas.microsoft.com/office/drawing/2014/main" id="{7A41AF01-26C0-4046-1B94-FBB1B0026F5F}"/>
              </a:ext>
            </a:extLst>
          </p:cNvPr>
          <p:cNvPicPr>
            <a:picLocks noChangeAspect="1"/>
          </p:cNvPicPr>
          <p:nvPr/>
        </p:nvPicPr>
        <p:blipFill>
          <a:blip r:embed="rId4"/>
          <a:stretch>
            <a:fillRect/>
          </a:stretch>
        </p:blipFill>
        <p:spPr>
          <a:xfrm>
            <a:off x="6805644" y="1418373"/>
            <a:ext cx="4358124" cy="3289957"/>
          </a:xfrm>
          <a:prstGeom prst="rect">
            <a:avLst/>
          </a:prstGeom>
        </p:spPr>
      </p:pic>
      <p:pic>
        <p:nvPicPr>
          <p:cNvPr id="10" name="Imagen 9">
            <a:extLst>
              <a:ext uri="{FF2B5EF4-FFF2-40B4-BE49-F238E27FC236}">
                <a16:creationId xmlns:a16="http://schemas.microsoft.com/office/drawing/2014/main" id="{EE5EB77D-FB33-8E7A-C71C-4ABC170E276C}"/>
              </a:ext>
            </a:extLst>
          </p:cNvPr>
          <p:cNvPicPr>
            <a:picLocks noChangeAspect="1"/>
          </p:cNvPicPr>
          <p:nvPr/>
        </p:nvPicPr>
        <p:blipFill>
          <a:blip r:embed="rId5"/>
          <a:stretch>
            <a:fillRect/>
          </a:stretch>
        </p:blipFill>
        <p:spPr>
          <a:xfrm>
            <a:off x="812815" y="2529516"/>
            <a:ext cx="5018382" cy="1222242"/>
          </a:xfrm>
          <a:prstGeom prst="rect">
            <a:avLst/>
          </a:prstGeom>
        </p:spPr>
      </p:pic>
    </p:spTree>
    <p:extLst>
      <p:ext uri="{BB962C8B-B14F-4D97-AF65-F5344CB8AC3E}">
        <p14:creationId xmlns:p14="http://schemas.microsoft.com/office/powerpoint/2010/main" val="3730688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E1F43-DB38-A884-7331-E70BBE46ECE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285207B-1DA0-F359-8522-8428368C06D7}"/>
              </a:ext>
            </a:extLst>
          </p:cNvPr>
          <p:cNvSpPr txBox="1">
            <a:spLocks noGrp="1"/>
          </p:cNvSpPr>
          <p:nvPr>
            <p:ph type="title"/>
          </p:nvPr>
        </p:nvSpPr>
        <p:spPr>
          <a:xfrm>
            <a:off x="685800" y="408883"/>
            <a:ext cx="10994410" cy="674544"/>
          </a:xfrm>
          <a:prstGeom prst="rect">
            <a:avLst/>
          </a:prstGeom>
        </p:spPr>
        <p:txBody>
          <a:bodyPr vert="horz" wrap="square" lIns="0" tIns="12700" rIns="0" bIns="0" rtlCol="0">
            <a:spAutoFit/>
          </a:bodyPr>
          <a:lstStyle/>
          <a:p>
            <a:pPr marL="12700" algn="just">
              <a:lnSpc>
                <a:spcPct val="100000"/>
              </a:lnSpc>
              <a:spcBef>
                <a:spcPts val="100"/>
              </a:spcBef>
            </a:pPr>
            <a:r>
              <a:rPr lang="en-US" sz="2500"/>
              <a:t>Learning outcome #1b – Notebook section 1. Technology – </a:t>
            </a:r>
            <a:r>
              <a:rPr lang="en-US" sz="2500">
                <a:solidFill>
                  <a:srgbClr val="FF0000"/>
                </a:solidFill>
              </a:rPr>
              <a:t>1 slide per component</a:t>
            </a:r>
            <a:br>
              <a:rPr lang="en-US" sz="2500"/>
            </a:br>
            <a:r>
              <a:rPr lang="en-US" sz="1800" b="0" i="1"/>
              <a:t>MZI</a:t>
            </a:r>
            <a:endParaRPr sz="2500" b="0" i="1">
              <a:latin typeface="+mj-lt"/>
              <a:cs typeface="Lucida Sans"/>
            </a:endParaRPr>
          </a:p>
        </p:txBody>
      </p:sp>
      <p:pic>
        <p:nvPicPr>
          <p:cNvPr id="83" name="Gráfico 82">
            <a:extLst>
              <a:ext uri="{FF2B5EF4-FFF2-40B4-BE49-F238E27FC236}">
                <a16:creationId xmlns:a16="http://schemas.microsoft.com/office/drawing/2014/main" id="{91583879-DD8B-600F-0D14-BEB67DE6D2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1081C4C-987F-1501-2B77-3B5EFFE0A8C4}"/>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B7452E9E-88BD-B8C3-EB0F-DE8508DD7FB3}"/>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2AA59041-8617-15C5-642E-91C0FD8DBE1C}"/>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i="0" u="none" strike="noStrike">
                <a:solidFill>
                  <a:srgbClr val="000000"/>
                </a:solidFill>
                <a:effectLst/>
                <a:latin typeface="Arial" panose="020B0604020202020204" pitchFamily="34" charset="0"/>
                <a:cs typeface="Arial" panose="020B0604020202020204" pitchFamily="34" charset="0"/>
              </a:rPr>
              <a:t>Este es el interferómetro Mach-</a:t>
            </a:r>
            <a:r>
              <a:rPr lang="es-ES" sz="1200" i="0" u="none" strike="noStrike" err="1">
                <a:solidFill>
                  <a:srgbClr val="000000"/>
                </a:solidFill>
                <a:effectLst/>
                <a:latin typeface="Arial" panose="020B0604020202020204" pitchFamily="34" charset="0"/>
                <a:cs typeface="Arial" panose="020B0604020202020204" pitchFamily="34" charset="0"/>
              </a:rPr>
              <a:t>Zehnder</a:t>
            </a:r>
            <a:r>
              <a:rPr lang="es-ES" sz="1200" i="0" u="none" strike="noStrike">
                <a:solidFill>
                  <a:srgbClr val="000000"/>
                </a:solidFill>
                <a:effectLst/>
                <a:latin typeface="Arial" panose="020B0604020202020204" pitchFamily="34" charset="0"/>
                <a:cs typeface="Arial" panose="020B0604020202020204" pitchFamily="34" charset="0"/>
              </a:rPr>
              <a:t> (MZI) estructurado a partir de los análisis del Laboratorio 3, un dispositivo diseñado para modular o filtrar señales ópticas mediante el desfase controlado entre sus dos caminos ópticos. Para la instanciación de su </a:t>
            </a:r>
            <a:r>
              <a:rPr lang="es-ES" sz="1200" i="0" u="none" strike="noStrike" err="1">
                <a:solidFill>
                  <a:srgbClr val="000000"/>
                </a:solidFill>
                <a:effectLst/>
                <a:latin typeface="Arial" panose="020B0604020202020204" pitchFamily="34" charset="0"/>
                <a:cs typeface="Arial" panose="020B0604020202020204" pitchFamily="34" charset="0"/>
              </a:rPr>
              <a:t>layout</a:t>
            </a:r>
            <a:r>
              <a:rPr lang="es-ES" sz="1200" i="0" u="none" strike="noStrike">
                <a:solidFill>
                  <a:srgbClr val="000000"/>
                </a:solidFill>
                <a:effectLst/>
                <a:latin typeface="Arial" panose="020B0604020202020204" pitchFamily="34" charset="0"/>
                <a:cs typeface="Arial" panose="020B0604020202020204" pitchFamily="34" charset="0"/>
              </a:rPr>
              <a:t> geométrico, el bloque de código en Python recurre a la función parametrizada </a:t>
            </a:r>
            <a:r>
              <a:rPr lang="es-ES" sz="1200" i="0" u="none" strike="noStrike" err="1">
                <a:solidFill>
                  <a:srgbClr val="000000"/>
                </a:solidFill>
                <a:effectLst/>
                <a:latin typeface="Arial" panose="020B0604020202020204" pitchFamily="34" charset="0"/>
                <a:cs typeface="Arial" panose="020B0604020202020204" pitchFamily="34" charset="0"/>
              </a:rPr>
              <a:t>gf.components.mzi</a:t>
            </a:r>
            <a:r>
              <a:rPr lang="es-ES" sz="1200" i="0" u="none" strike="noStrike">
                <a:solidFill>
                  <a:srgbClr val="000000"/>
                </a:solidFill>
                <a:effectLst/>
                <a:latin typeface="Arial" panose="020B0604020202020204" pitchFamily="34" charset="0"/>
                <a:cs typeface="Arial" panose="020B0604020202020204" pitchFamily="34" charset="0"/>
              </a:rPr>
              <a:t>, donde se introduce como parámetro crítico un desequilibrio físico en la longitud de sus brazos de </a:t>
            </a:r>
            <a:r>
              <a:rPr lang="es-ES" sz="1200" i="0" u="none" strike="noStrike" err="1">
                <a:solidFill>
                  <a:srgbClr val="000000"/>
                </a:solidFill>
                <a:effectLst/>
                <a:latin typeface="Arial" panose="020B0604020202020204" pitchFamily="34" charset="0"/>
                <a:cs typeface="Arial" panose="020B0604020202020204" pitchFamily="34" charset="0"/>
              </a:rPr>
              <a:t>delta_length</a:t>
            </a:r>
            <a:r>
              <a:rPr lang="es-ES" sz="1200" i="0" u="none" strike="noStrike">
                <a:solidFill>
                  <a:srgbClr val="000000"/>
                </a:solidFill>
                <a:effectLst/>
                <a:latin typeface="Arial" panose="020B0604020202020204" pitchFamily="34" charset="0"/>
                <a:cs typeface="Arial" panose="020B0604020202020204" pitchFamily="34" charset="0"/>
              </a:rPr>
              <a:t> = 100.0 µm, el cual dicta directamente el rango espectral libre (FSR) del componente. Con el fin de garantizar una alta simetría en el balance de potencia y minimizar las pérdidas acumuladas, la arquitectura se ha construido de forma jerárquica reutilizando la celda del divisor multimodo c_mmi1x2 procedente del Laboratorio 2, la cual se implementa de manera idéntica tanto en la etapa de división inicial de la luz (</a:t>
            </a:r>
            <a:r>
              <a:rPr lang="es-ES" sz="1200" i="1" u="none" strike="noStrike" err="1">
                <a:solidFill>
                  <a:srgbClr val="000000"/>
                </a:solidFill>
                <a:effectLst/>
                <a:latin typeface="Arial" panose="020B0604020202020204" pitchFamily="34" charset="0"/>
                <a:cs typeface="Arial" panose="020B0604020202020204" pitchFamily="34" charset="0"/>
              </a:rPr>
              <a:t>splitter</a:t>
            </a:r>
            <a:r>
              <a:rPr lang="es-ES" sz="1200" i="0" u="none" strike="noStrike">
                <a:solidFill>
                  <a:srgbClr val="000000"/>
                </a:solidFill>
                <a:effectLst/>
                <a:latin typeface="Arial" panose="020B0604020202020204" pitchFamily="34" charset="0"/>
                <a:cs typeface="Arial" panose="020B0604020202020204" pitchFamily="34" charset="0"/>
              </a:rPr>
              <a:t>) como en la etapa de recombinación final de los frentes de onda (</a:t>
            </a:r>
            <a:r>
              <a:rPr lang="es-ES" sz="1200" i="1" u="none" strike="noStrike" err="1">
                <a:solidFill>
                  <a:srgbClr val="000000"/>
                </a:solidFill>
                <a:effectLst/>
                <a:latin typeface="Arial" panose="020B0604020202020204" pitchFamily="34" charset="0"/>
                <a:cs typeface="Arial" panose="020B0604020202020204" pitchFamily="34" charset="0"/>
              </a:rPr>
              <a:t>combiner</a:t>
            </a:r>
            <a:r>
              <a:rPr lang="es-ES" sz="1200" i="0" u="none" strike="noStrike">
                <a:solidFill>
                  <a:srgbClr val="000000"/>
                </a:solidFill>
                <a:effectLst/>
                <a:latin typeface="Arial" panose="020B0604020202020204" pitchFamily="34" charset="0"/>
                <a:cs typeface="Arial" panose="020B0604020202020204" pitchFamily="34" charset="0"/>
              </a:rPr>
              <a:t>).</a:t>
            </a:r>
            <a:endParaRPr lang="en-US" sz="120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E15FFC65-2B5A-6094-49B1-427B7590E3F0}"/>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4C6B37C0-F9CF-83E5-0A01-FA60C2117FC8}"/>
              </a:ext>
            </a:extLst>
          </p:cNvPr>
          <p:cNvSpPr txBox="1"/>
          <p:nvPr/>
        </p:nvSpPr>
        <p:spPr>
          <a:xfrm>
            <a:off x="2375901" y="2494306"/>
            <a:ext cx="1799660" cy="646331"/>
          </a:xfrm>
          <a:prstGeom prst="rect">
            <a:avLst/>
          </a:prstGeom>
          <a:noFill/>
        </p:spPr>
        <p:txBody>
          <a:bodyPr wrap="none" rtlCol="0">
            <a:spAutoFit/>
          </a:bodyPr>
          <a:lstStyle/>
          <a:p>
            <a:pPr algn="ctr"/>
            <a:r>
              <a:rPr lang="en-US"/>
              <a:t>Component code</a:t>
            </a:r>
          </a:p>
          <a:p>
            <a:pPr algn="ctr"/>
            <a:endParaRPr lang="en-US"/>
          </a:p>
        </p:txBody>
      </p:sp>
      <p:sp>
        <p:nvSpPr>
          <p:cNvPr id="8" name="Rectángulo 7">
            <a:extLst>
              <a:ext uri="{FF2B5EF4-FFF2-40B4-BE49-F238E27FC236}">
                <a16:creationId xmlns:a16="http://schemas.microsoft.com/office/drawing/2014/main" id="{669288F8-41FD-32D2-1FC2-FC78D1F3D191}"/>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F5E3EA8B-9F21-6607-2957-CA8DFF9E2251}"/>
              </a:ext>
            </a:extLst>
          </p:cNvPr>
          <p:cNvSpPr txBox="1"/>
          <p:nvPr/>
        </p:nvSpPr>
        <p:spPr>
          <a:xfrm>
            <a:off x="7956912" y="2496339"/>
            <a:ext cx="2372445" cy="369332"/>
          </a:xfrm>
          <a:prstGeom prst="rect">
            <a:avLst/>
          </a:prstGeom>
          <a:noFill/>
        </p:spPr>
        <p:txBody>
          <a:bodyPr wrap="none" rtlCol="0">
            <a:spAutoFit/>
          </a:bodyPr>
          <a:lstStyle/>
          <a:p>
            <a:pPr algn="ctr"/>
            <a:r>
              <a:rPr lang="es-ES" err="1"/>
              <a:t>Component</a:t>
            </a:r>
            <a:r>
              <a:rPr lang="es-ES"/>
              <a:t> </a:t>
            </a:r>
            <a:r>
              <a:rPr lang="es-ES" err="1"/>
              <a:t>screenshot</a:t>
            </a:r>
            <a:endParaRPr lang="en-US"/>
          </a:p>
        </p:txBody>
      </p:sp>
      <p:pic>
        <p:nvPicPr>
          <p:cNvPr id="10" name="Imagen 9">
            <a:extLst>
              <a:ext uri="{FF2B5EF4-FFF2-40B4-BE49-F238E27FC236}">
                <a16:creationId xmlns:a16="http://schemas.microsoft.com/office/drawing/2014/main" id="{24C49B17-C4E8-8C0D-9EC2-741225F7688E}"/>
              </a:ext>
            </a:extLst>
          </p:cNvPr>
          <p:cNvPicPr>
            <a:picLocks noChangeAspect="1"/>
          </p:cNvPicPr>
          <p:nvPr/>
        </p:nvPicPr>
        <p:blipFill>
          <a:blip r:embed="rId4"/>
          <a:stretch>
            <a:fillRect/>
          </a:stretch>
        </p:blipFill>
        <p:spPr>
          <a:xfrm>
            <a:off x="6858000" y="1526786"/>
            <a:ext cx="4235802" cy="3197615"/>
          </a:xfrm>
          <a:prstGeom prst="rect">
            <a:avLst/>
          </a:prstGeom>
        </p:spPr>
      </p:pic>
      <p:pic>
        <p:nvPicPr>
          <p:cNvPr id="5" name="Imagen 4">
            <a:extLst>
              <a:ext uri="{FF2B5EF4-FFF2-40B4-BE49-F238E27FC236}">
                <a16:creationId xmlns:a16="http://schemas.microsoft.com/office/drawing/2014/main" id="{0B09B8D8-A598-D269-F436-2FFDE649EE40}"/>
              </a:ext>
            </a:extLst>
          </p:cNvPr>
          <p:cNvPicPr>
            <a:picLocks noChangeAspect="1"/>
          </p:cNvPicPr>
          <p:nvPr/>
        </p:nvPicPr>
        <p:blipFill>
          <a:blip r:embed="rId5"/>
          <a:stretch>
            <a:fillRect/>
          </a:stretch>
        </p:blipFill>
        <p:spPr>
          <a:xfrm>
            <a:off x="683349" y="2427269"/>
            <a:ext cx="5184754" cy="644118"/>
          </a:xfrm>
          <a:prstGeom prst="rect">
            <a:avLst/>
          </a:prstGeom>
        </p:spPr>
      </p:pic>
    </p:spTree>
    <p:extLst>
      <p:ext uri="{BB962C8B-B14F-4D97-AF65-F5344CB8AC3E}">
        <p14:creationId xmlns:p14="http://schemas.microsoft.com/office/powerpoint/2010/main" val="4232586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5F486-8ABB-9E1E-DF17-EE46B9177F6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725E38-1DDE-022D-621B-8E60104E2E92}"/>
              </a:ext>
            </a:extLst>
          </p:cNvPr>
          <p:cNvSpPr txBox="1">
            <a:spLocks noGrp="1"/>
          </p:cNvSpPr>
          <p:nvPr>
            <p:ph type="title"/>
          </p:nvPr>
        </p:nvSpPr>
        <p:spPr>
          <a:xfrm>
            <a:off x="685800" y="408883"/>
            <a:ext cx="10994410" cy="674544"/>
          </a:xfrm>
          <a:prstGeom prst="rect">
            <a:avLst/>
          </a:prstGeom>
        </p:spPr>
        <p:txBody>
          <a:bodyPr vert="horz" wrap="square" lIns="0" tIns="12700" rIns="0" bIns="0" rtlCol="0">
            <a:spAutoFit/>
          </a:bodyPr>
          <a:lstStyle/>
          <a:p>
            <a:pPr marL="12700" algn="just">
              <a:lnSpc>
                <a:spcPct val="100000"/>
              </a:lnSpc>
              <a:spcBef>
                <a:spcPts val="100"/>
              </a:spcBef>
            </a:pPr>
            <a:r>
              <a:rPr lang="en-US" sz="2500"/>
              <a:t>Learning outcome #1b – Notebook section 1. Technology – </a:t>
            </a:r>
            <a:r>
              <a:rPr lang="en-US" sz="2500">
                <a:solidFill>
                  <a:srgbClr val="FF0000"/>
                </a:solidFill>
              </a:rPr>
              <a:t>1 slide per component</a:t>
            </a:r>
            <a:br>
              <a:rPr lang="en-US" sz="2500"/>
            </a:br>
            <a:r>
              <a:rPr lang="en-US" sz="1800" b="0" i="1"/>
              <a:t>Ring Resonators</a:t>
            </a:r>
            <a:endParaRPr sz="2500" b="0" i="1">
              <a:latin typeface="+mj-lt"/>
              <a:cs typeface="Lucida Sans"/>
            </a:endParaRPr>
          </a:p>
        </p:txBody>
      </p:sp>
      <p:pic>
        <p:nvPicPr>
          <p:cNvPr id="83" name="Gráfico 82">
            <a:extLst>
              <a:ext uri="{FF2B5EF4-FFF2-40B4-BE49-F238E27FC236}">
                <a16:creationId xmlns:a16="http://schemas.microsoft.com/office/drawing/2014/main" id="{92760E22-79F0-8D2D-4817-8E8F679DCF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8F2E85E-E50E-0CF4-767B-7C27B2AD66ED}"/>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FC8D4F41-34B5-35DB-5115-D19EF7382E34}"/>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4E7F2110-AB44-ED08-0DC9-76EE317EC85E}"/>
              </a:ext>
            </a:extLst>
          </p:cNvPr>
          <p:cNvSpPr txBox="1"/>
          <p:nvPr/>
        </p:nvSpPr>
        <p:spPr>
          <a:xfrm>
            <a:off x="609441" y="4860334"/>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s-ES" sz="1200" i="0" u="none" strike="noStrike">
                <a:solidFill>
                  <a:srgbClr val="000000"/>
                </a:solidFill>
                <a:effectLst/>
                <a:latin typeface="Arial" panose="020B0604020202020204" pitchFamily="34" charset="0"/>
                <a:cs typeface="Arial" panose="020B0604020202020204" pitchFamily="34" charset="0"/>
              </a:rPr>
              <a:t>Este es el resonador de anillo (</a:t>
            </a:r>
            <a:r>
              <a:rPr lang="es-ES" sz="1200" i="1" u="none" strike="noStrike">
                <a:solidFill>
                  <a:srgbClr val="000000"/>
                </a:solidFill>
                <a:effectLst/>
                <a:latin typeface="Arial" panose="020B0604020202020204" pitchFamily="34" charset="0"/>
                <a:cs typeface="Arial" panose="020B0604020202020204" pitchFamily="34" charset="0"/>
              </a:rPr>
              <a:t>Ring </a:t>
            </a:r>
            <a:r>
              <a:rPr lang="es-ES" sz="1200" i="1" u="none" strike="noStrike" err="1">
                <a:solidFill>
                  <a:srgbClr val="000000"/>
                </a:solidFill>
                <a:effectLst/>
                <a:latin typeface="Arial" panose="020B0604020202020204" pitchFamily="34" charset="0"/>
                <a:cs typeface="Arial" panose="020B0604020202020204" pitchFamily="34" charset="0"/>
              </a:rPr>
              <a:t>Resonator</a:t>
            </a:r>
            <a:r>
              <a:rPr lang="es-ES" sz="1200" i="0" u="none" strike="noStrike">
                <a:solidFill>
                  <a:srgbClr val="000000"/>
                </a:solidFill>
                <a:effectLst/>
                <a:latin typeface="Arial" panose="020B0604020202020204" pitchFamily="34" charset="0"/>
                <a:cs typeface="Arial" panose="020B0604020202020204" pitchFamily="34" charset="0"/>
              </a:rPr>
              <a:t>) instanciado a partir de los análisis del Laboratorio 3, un dispositivo fotónico </a:t>
            </a:r>
            <a:r>
              <a:rPr lang="es-ES" sz="1200" i="0" u="none" strike="noStrike" err="1">
                <a:solidFill>
                  <a:srgbClr val="000000"/>
                </a:solidFill>
                <a:effectLst/>
                <a:latin typeface="Arial" panose="020B0604020202020204" pitchFamily="34" charset="0"/>
                <a:cs typeface="Arial" panose="020B0604020202020204" pitchFamily="34" charset="0"/>
              </a:rPr>
              <a:t>usdo</a:t>
            </a:r>
            <a:r>
              <a:rPr lang="es-ES" sz="1200" i="0" u="none" strike="noStrike">
                <a:solidFill>
                  <a:srgbClr val="000000"/>
                </a:solidFill>
                <a:effectLst/>
                <a:latin typeface="Arial" panose="020B0604020202020204" pitchFamily="34" charset="0"/>
                <a:cs typeface="Arial" panose="020B0604020202020204" pitchFamily="34" charset="0"/>
              </a:rPr>
              <a:t> para la selección y filtrado espectral de frecuencias ópticas. Para la generación de su </a:t>
            </a:r>
            <a:r>
              <a:rPr lang="es-ES" sz="1200" i="0" u="none" strike="noStrike" err="1">
                <a:solidFill>
                  <a:srgbClr val="000000"/>
                </a:solidFill>
                <a:effectLst/>
                <a:latin typeface="Arial" panose="020B0604020202020204" pitchFamily="34" charset="0"/>
                <a:cs typeface="Arial" panose="020B0604020202020204" pitchFamily="34" charset="0"/>
              </a:rPr>
              <a:t>layout</a:t>
            </a:r>
            <a:r>
              <a:rPr lang="es-ES" sz="1200" i="0" u="none" strike="noStrike">
                <a:solidFill>
                  <a:srgbClr val="000000"/>
                </a:solidFill>
                <a:effectLst/>
                <a:latin typeface="Arial" panose="020B0604020202020204" pitchFamily="34" charset="0"/>
                <a:cs typeface="Arial" panose="020B0604020202020204" pitchFamily="34" charset="0"/>
              </a:rPr>
              <a:t> geométrico, el bloque de código en Python hace uso de la función de celda </a:t>
            </a:r>
            <a:r>
              <a:rPr lang="es-ES" sz="1200" i="0" u="none" strike="noStrike" err="1">
                <a:solidFill>
                  <a:srgbClr val="000000"/>
                </a:solidFill>
                <a:effectLst/>
                <a:latin typeface="Arial" panose="020B0604020202020204" pitchFamily="34" charset="0"/>
                <a:cs typeface="Arial" panose="020B0604020202020204" pitchFamily="34" charset="0"/>
              </a:rPr>
              <a:t>gf.components.ring_single</a:t>
            </a:r>
            <a:r>
              <a:rPr lang="es-ES" sz="1200" i="0" u="none" strike="noStrike">
                <a:solidFill>
                  <a:srgbClr val="000000"/>
                </a:solidFill>
                <a:effectLst/>
                <a:latin typeface="Arial" panose="020B0604020202020204" pitchFamily="34" charset="0"/>
                <a:cs typeface="Arial" panose="020B0604020202020204" pitchFamily="34" charset="0"/>
              </a:rPr>
              <a:t>, definiendo los parámetros estructurales con un espacio de separación de gap = 0.2 µm, una longitud de la sección recta horizontal de </a:t>
            </a:r>
            <a:r>
              <a:rPr lang="es-ES" sz="1200" i="0" u="none" strike="noStrike" err="1">
                <a:solidFill>
                  <a:srgbClr val="000000"/>
                </a:solidFill>
                <a:effectLst/>
                <a:latin typeface="Arial" panose="020B0604020202020204" pitchFamily="34" charset="0"/>
                <a:cs typeface="Arial" panose="020B0604020202020204" pitchFamily="34" charset="0"/>
              </a:rPr>
              <a:t>length_x</a:t>
            </a:r>
            <a:r>
              <a:rPr lang="es-ES" sz="1200" i="0" u="none" strike="noStrike">
                <a:solidFill>
                  <a:srgbClr val="000000"/>
                </a:solidFill>
                <a:effectLst/>
                <a:latin typeface="Arial" panose="020B0604020202020204" pitchFamily="34" charset="0"/>
                <a:cs typeface="Arial" panose="020B0604020202020204" pitchFamily="34" charset="0"/>
              </a:rPr>
              <a:t> = 4 µm y una sección transversal de guía tipo '</a:t>
            </a:r>
            <a:r>
              <a:rPr lang="es-ES" sz="1200" i="0" u="none" strike="noStrike" err="1">
                <a:solidFill>
                  <a:srgbClr val="000000"/>
                </a:solidFill>
                <a:effectLst/>
                <a:latin typeface="Arial" panose="020B0604020202020204" pitchFamily="34" charset="0"/>
                <a:cs typeface="Arial" panose="020B0604020202020204" pitchFamily="34" charset="0"/>
              </a:rPr>
              <a:t>strip</a:t>
            </a:r>
            <a:r>
              <a:rPr lang="es-ES" sz="1200" i="0" u="none" strike="noStrike">
                <a:solidFill>
                  <a:srgbClr val="000000"/>
                </a:solidFill>
                <a:effectLst/>
                <a:latin typeface="Arial" panose="020B0604020202020204" pitchFamily="34" charset="0"/>
                <a:cs typeface="Arial" panose="020B0604020202020204" pitchFamily="34" charset="0"/>
              </a:rPr>
              <a:t>'. La construcción de este componente presenta una justificación de diseño crítica frente a las restricciones tecnológicas de la fundición: aunque el perímetro ideal optimizado teóricamente en las simulaciones del Laboratorio 3 era de 80.08 µm, las reglas de diseño del PDK exigen estrictamente un radio mínimo de </a:t>
            </a:r>
            <a:r>
              <a:rPr lang="es-ES" sz="1200" i="0" u="none" strike="noStrike" err="1">
                <a:solidFill>
                  <a:srgbClr val="000000"/>
                </a:solidFill>
                <a:effectLst/>
                <a:latin typeface="Arial" panose="020B0604020202020204" pitchFamily="34" charset="0"/>
                <a:cs typeface="Arial" panose="020B0604020202020204" pitchFamily="34" charset="0"/>
              </a:rPr>
              <a:t>radius</a:t>
            </a:r>
            <a:r>
              <a:rPr lang="es-ES" sz="1200" i="0" u="none" strike="noStrike">
                <a:solidFill>
                  <a:srgbClr val="000000"/>
                </a:solidFill>
                <a:effectLst/>
                <a:latin typeface="Arial" panose="020B0604020202020204" pitchFamily="34" charset="0"/>
                <a:cs typeface="Arial" panose="020B0604020202020204" pitchFamily="34" charset="0"/>
              </a:rPr>
              <a:t> = 35.0 µm con el propósito de evitar pérdidas excesivas por radiación en las curvas (</a:t>
            </a:r>
            <a:r>
              <a:rPr lang="es-ES" sz="1200" i="1" u="none" strike="noStrike" err="1">
                <a:solidFill>
                  <a:srgbClr val="000000"/>
                </a:solidFill>
                <a:effectLst/>
                <a:latin typeface="Arial" panose="020B0604020202020204" pitchFamily="34" charset="0"/>
                <a:cs typeface="Arial" panose="020B0604020202020204" pitchFamily="34" charset="0"/>
              </a:rPr>
              <a:t>bending</a:t>
            </a:r>
            <a:r>
              <a:rPr lang="es-ES" sz="1200" i="1" u="none" strike="noStrike">
                <a:solidFill>
                  <a:srgbClr val="000000"/>
                </a:solidFill>
                <a:effectLst/>
                <a:latin typeface="Arial" panose="020B0604020202020204" pitchFamily="34" charset="0"/>
                <a:cs typeface="Arial" panose="020B0604020202020204" pitchFamily="34" charset="0"/>
              </a:rPr>
              <a:t> </a:t>
            </a:r>
            <a:r>
              <a:rPr lang="es-ES" sz="1200" i="1" u="none" strike="noStrike" err="1">
                <a:solidFill>
                  <a:srgbClr val="000000"/>
                </a:solidFill>
                <a:effectLst/>
                <a:latin typeface="Arial" panose="020B0604020202020204" pitchFamily="34" charset="0"/>
                <a:cs typeface="Arial" panose="020B0604020202020204" pitchFamily="34" charset="0"/>
              </a:rPr>
              <a:t>losses</a:t>
            </a:r>
            <a:r>
              <a:rPr lang="es-ES" sz="1200" i="0" u="none" strike="noStrike">
                <a:solidFill>
                  <a:srgbClr val="000000"/>
                </a:solidFill>
                <a:effectLst/>
                <a:latin typeface="Arial" panose="020B0604020202020204" pitchFamily="34" charset="0"/>
                <a:cs typeface="Arial" panose="020B0604020202020204" pitchFamily="34" charset="0"/>
              </a:rPr>
              <a:t>). Como consecuencia, el diseño final se ve obligado a implementar un anillo de dimensiones mayores que las del modelo analítico inicial para asegurar la viabilidad de su fabricación.</a:t>
            </a:r>
            <a:endParaRPr lang="en-US" sz="120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DFBAB0B3-5E45-3F38-4269-E3792B8FBFBE}"/>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48B5389A-B384-3170-DEE7-DA07878B6014}"/>
              </a:ext>
            </a:extLst>
          </p:cNvPr>
          <p:cNvSpPr txBox="1"/>
          <p:nvPr/>
        </p:nvSpPr>
        <p:spPr>
          <a:xfrm>
            <a:off x="2375901" y="2494306"/>
            <a:ext cx="1799660" cy="646331"/>
          </a:xfrm>
          <a:prstGeom prst="rect">
            <a:avLst/>
          </a:prstGeom>
          <a:noFill/>
        </p:spPr>
        <p:txBody>
          <a:bodyPr wrap="none" rtlCol="0">
            <a:spAutoFit/>
          </a:bodyPr>
          <a:lstStyle/>
          <a:p>
            <a:pPr algn="ctr"/>
            <a:r>
              <a:rPr lang="en-US"/>
              <a:t>Component code</a:t>
            </a:r>
          </a:p>
          <a:p>
            <a:pPr algn="ctr"/>
            <a:endParaRPr lang="en-US"/>
          </a:p>
        </p:txBody>
      </p:sp>
      <p:sp>
        <p:nvSpPr>
          <p:cNvPr id="8" name="Rectángulo 7">
            <a:extLst>
              <a:ext uri="{FF2B5EF4-FFF2-40B4-BE49-F238E27FC236}">
                <a16:creationId xmlns:a16="http://schemas.microsoft.com/office/drawing/2014/main" id="{B93CC2E6-12F6-2C2D-07D6-FA96B4435ECA}"/>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63FA557A-E621-A6DB-AECC-475DE23EF437}"/>
              </a:ext>
            </a:extLst>
          </p:cNvPr>
          <p:cNvSpPr txBox="1"/>
          <p:nvPr/>
        </p:nvSpPr>
        <p:spPr>
          <a:xfrm>
            <a:off x="7956912" y="2496339"/>
            <a:ext cx="2372445" cy="369332"/>
          </a:xfrm>
          <a:prstGeom prst="rect">
            <a:avLst/>
          </a:prstGeom>
          <a:noFill/>
        </p:spPr>
        <p:txBody>
          <a:bodyPr wrap="none" rtlCol="0">
            <a:spAutoFit/>
          </a:bodyPr>
          <a:lstStyle/>
          <a:p>
            <a:pPr algn="ctr"/>
            <a:r>
              <a:rPr lang="es-ES" err="1"/>
              <a:t>Component</a:t>
            </a:r>
            <a:r>
              <a:rPr lang="es-ES"/>
              <a:t> </a:t>
            </a:r>
            <a:r>
              <a:rPr lang="es-ES" err="1"/>
              <a:t>screenshot</a:t>
            </a:r>
            <a:endParaRPr lang="en-US"/>
          </a:p>
        </p:txBody>
      </p:sp>
      <p:pic>
        <p:nvPicPr>
          <p:cNvPr id="5" name="Imagen 4">
            <a:extLst>
              <a:ext uri="{FF2B5EF4-FFF2-40B4-BE49-F238E27FC236}">
                <a16:creationId xmlns:a16="http://schemas.microsoft.com/office/drawing/2014/main" id="{C593E084-A7B9-513F-138D-3052EA479F5C}"/>
              </a:ext>
            </a:extLst>
          </p:cNvPr>
          <p:cNvPicPr>
            <a:picLocks noChangeAspect="1"/>
          </p:cNvPicPr>
          <p:nvPr/>
        </p:nvPicPr>
        <p:blipFill>
          <a:blip r:embed="rId4"/>
          <a:stretch>
            <a:fillRect/>
          </a:stretch>
        </p:blipFill>
        <p:spPr>
          <a:xfrm>
            <a:off x="6955971" y="1471675"/>
            <a:ext cx="4179797" cy="3155337"/>
          </a:xfrm>
          <a:prstGeom prst="rect">
            <a:avLst/>
          </a:prstGeom>
        </p:spPr>
      </p:pic>
      <p:pic>
        <p:nvPicPr>
          <p:cNvPr id="10" name="Imagen 9">
            <a:extLst>
              <a:ext uri="{FF2B5EF4-FFF2-40B4-BE49-F238E27FC236}">
                <a16:creationId xmlns:a16="http://schemas.microsoft.com/office/drawing/2014/main" id="{F7AF6CF7-5DC2-18AF-DDC0-982D2F3E38E7}"/>
              </a:ext>
            </a:extLst>
          </p:cNvPr>
          <p:cNvPicPr>
            <a:picLocks noChangeAspect="1"/>
          </p:cNvPicPr>
          <p:nvPr/>
        </p:nvPicPr>
        <p:blipFill>
          <a:blip r:embed="rId5"/>
          <a:stretch>
            <a:fillRect/>
          </a:stretch>
        </p:blipFill>
        <p:spPr>
          <a:xfrm>
            <a:off x="649605" y="2537121"/>
            <a:ext cx="5252242" cy="617047"/>
          </a:xfrm>
          <a:prstGeom prst="rect">
            <a:avLst/>
          </a:prstGeom>
        </p:spPr>
      </p:pic>
    </p:spTree>
    <p:extLst>
      <p:ext uri="{BB962C8B-B14F-4D97-AF65-F5344CB8AC3E}">
        <p14:creationId xmlns:p14="http://schemas.microsoft.com/office/powerpoint/2010/main" val="630242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B0A8-BCE1-AF65-5AFA-79184BEDA90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DCA2EEE-70B8-D049-D7BD-B54DCCF3207D}"/>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#2a – Notebook section 2. Layout Fundamentals</a:t>
            </a:r>
            <a:br>
              <a:rPr lang="en-US" sz="2500"/>
            </a:br>
            <a:r>
              <a:rPr lang="en-US" sz="1800" b="0" i="1"/>
              <a:t>“Once that we have a working 'new' component, we shall convert it into a Cell. This will allow us to have a hierarchical design”</a:t>
            </a:r>
            <a:endParaRPr sz="2500" b="0" i="1">
              <a:latin typeface="+mj-lt"/>
              <a:cs typeface="Lucida Sans"/>
            </a:endParaRPr>
          </a:p>
        </p:txBody>
      </p:sp>
      <p:pic>
        <p:nvPicPr>
          <p:cNvPr id="83" name="Gráfico 82">
            <a:extLst>
              <a:ext uri="{FF2B5EF4-FFF2-40B4-BE49-F238E27FC236}">
                <a16:creationId xmlns:a16="http://schemas.microsoft.com/office/drawing/2014/main" id="{DDB8C9DA-7093-6464-A7C1-20B2A585A1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102C027-A211-C670-7EF5-D7A4650EEA98}"/>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3BB5A66E-75F8-8688-0D68-26E0DDB3AC86}"/>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35C0B36B-B4BD-C242-E1BB-26DD7AC56DB0}"/>
              </a:ext>
            </a:extLst>
          </p:cNvPr>
          <p:cNvSpPr txBox="1"/>
          <p:nvPr/>
        </p:nvSpPr>
        <p:spPr>
          <a:xfrm>
            <a:off x="609441" y="4860334"/>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Describe component:</a:t>
            </a:r>
            <a:r>
              <a:rPr lang="es-ES" sz="1200" dirty="0">
                <a:latin typeface="Arial" panose="020B0604020202020204" pitchFamily="34" charset="0"/>
                <a:cs typeface="Arial" panose="020B0604020202020204" pitchFamily="34" charset="0"/>
              </a:rPr>
              <a:t>Un die es la celda raíz del </a:t>
            </a:r>
            <a:r>
              <a:rPr lang="es-ES" sz="1200" dirty="0" err="1">
                <a:latin typeface="Arial" panose="020B0604020202020204" pitchFamily="34" charset="0"/>
                <a:cs typeface="Arial" panose="020B0604020202020204" pitchFamily="34" charset="0"/>
              </a:rPr>
              <a:t>layout</a:t>
            </a:r>
            <a:r>
              <a:rPr lang="es-ES" sz="1200" dirty="0">
                <a:latin typeface="Arial" panose="020B0604020202020204" pitchFamily="34" charset="0"/>
                <a:cs typeface="Arial" panose="020B0604020202020204" pitchFamily="34" charset="0"/>
              </a:rPr>
              <a:t> fotónico. Se define como una función decorada con @gf.cell, lo que permite instanciar múltiples referencias del mismo componente con parámetros distintos (</a:t>
            </a:r>
            <a:r>
              <a:rPr lang="es-ES" sz="1200" dirty="0" err="1">
                <a:latin typeface="Arial" panose="020B0604020202020204" pitchFamily="34" charset="0"/>
                <a:cs typeface="Arial" panose="020B0604020202020204" pitchFamily="34" charset="0"/>
              </a:rPr>
              <a:t>dieW</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dieL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border</a:t>
            </a:r>
            <a:r>
              <a:rPr lang="es-ES" sz="1200" dirty="0">
                <a:latin typeface="Arial" panose="020B0604020202020204" pitchFamily="34" charset="0"/>
                <a:cs typeface="Arial" panose="020B0604020202020204" pitchFamily="34" charset="0"/>
              </a:rPr>
              <a:t>) garantizando nombres únicos en el GDS. Internamente genera el marco FLOORPLAN mediante una operación booleana A−B entre dos rectángulos, y expone el puerto </a:t>
            </a:r>
            <a:r>
              <a:rPr lang="es-ES" sz="1200" dirty="0" err="1">
                <a:latin typeface="Arial" panose="020B0604020202020204" pitchFamily="34" charset="0"/>
                <a:cs typeface="Arial" panose="020B0604020202020204" pitchFamily="34" charset="0"/>
              </a:rPr>
              <a:t>block@org</a:t>
            </a:r>
            <a:r>
              <a:rPr lang="es-ES" sz="1200" dirty="0">
                <a:latin typeface="Arial" panose="020B0604020202020204" pitchFamily="34" charset="0"/>
                <a:cs typeface="Arial" panose="020B0604020202020204" pitchFamily="34" charset="0"/>
              </a:rPr>
              <a:t> como referencia de coordenadas para posicionar el resto de componentes sobre el chip</a:t>
            </a:r>
            <a:r>
              <a:rPr lang="en-US" sz="1200" dirty="0">
                <a:latin typeface="Arial" panose="020B0604020202020204" pitchFamily="34" charset="0"/>
                <a:cs typeface="Arial" panose="020B0604020202020204" pitchFamily="34" charset="0"/>
              </a:rPr>
              <a:t> </a:t>
            </a:r>
          </a:p>
        </p:txBody>
      </p:sp>
      <p:sp>
        <p:nvSpPr>
          <p:cNvPr id="6" name="Rectángulo 5">
            <a:extLst>
              <a:ext uri="{FF2B5EF4-FFF2-40B4-BE49-F238E27FC236}">
                <a16:creationId xmlns:a16="http://schemas.microsoft.com/office/drawing/2014/main" id="{399364F4-A34A-5161-07CB-E12F9FFCB400}"/>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2A2AA3F-CE55-C50B-CB18-2C8D2061FDB9}"/>
              </a:ext>
            </a:extLst>
          </p:cNvPr>
          <p:cNvSpPr txBox="1"/>
          <p:nvPr/>
        </p:nvSpPr>
        <p:spPr>
          <a:xfrm>
            <a:off x="1531412" y="2494306"/>
            <a:ext cx="3488647" cy="923330"/>
          </a:xfrm>
          <a:prstGeom prst="rect">
            <a:avLst/>
          </a:prstGeom>
          <a:noFill/>
        </p:spPr>
        <p:txBody>
          <a:bodyPr wrap="none" rtlCol="0">
            <a:spAutoFit/>
          </a:bodyPr>
          <a:lstStyle/>
          <a:p>
            <a:pPr algn="ctr"/>
            <a:r>
              <a:rPr lang="en-US"/>
              <a:t>Example code for</a:t>
            </a:r>
          </a:p>
          <a:p>
            <a:pPr algn="ctr"/>
            <a:r>
              <a:rPr lang="en-US"/>
              <a:t>“A die (chip) for a photonic layout”</a:t>
            </a:r>
          </a:p>
          <a:p>
            <a:pPr algn="ctr"/>
            <a:endParaRPr lang="en-US"/>
          </a:p>
        </p:txBody>
      </p:sp>
      <p:sp>
        <p:nvSpPr>
          <p:cNvPr id="8" name="Rectángulo 7">
            <a:extLst>
              <a:ext uri="{FF2B5EF4-FFF2-40B4-BE49-F238E27FC236}">
                <a16:creationId xmlns:a16="http://schemas.microsoft.com/office/drawing/2014/main" id="{4DFC788C-53E2-83E7-3D9E-EBD582171C71}"/>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C44A1ED-9D94-1354-DB46-756E574E2C7E}"/>
              </a:ext>
            </a:extLst>
          </p:cNvPr>
          <p:cNvSpPr txBox="1"/>
          <p:nvPr/>
        </p:nvSpPr>
        <p:spPr>
          <a:xfrm>
            <a:off x="8483018" y="2496339"/>
            <a:ext cx="1320234" cy="646331"/>
          </a:xfrm>
          <a:prstGeom prst="rect">
            <a:avLst/>
          </a:prstGeom>
          <a:noFill/>
        </p:spPr>
        <p:txBody>
          <a:bodyPr wrap="none" rtlCol="0">
            <a:spAutoFit/>
          </a:bodyPr>
          <a:lstStyle/>
          <a:p>
            <a:pPr algn="ctr"/>
            <a:r>
              <a:rPr lang="es-ES" err="1"/>
              <a:t>Example</a:t>
            </a:r>
            <a:r>
              <a:rPr lang="es-ES"/>
              <a:t> die</a:t>
            </a:r>
          </a:p>
          <a:p>
            <a:pPr algn="ctr"/>
            <a:r>
              <a:rPr lang="es-ES"/>
              <a:t> </a:t>
            </a:r>
            <a:r>
              <a:rPr lang="es-ES" err="1"/>
              <a:t>screenshot</a:t>
            </a:r>
            <a:endParaRPr lang="en-US"/>
          </a:p>
        </p:txBody>
      </p:sp>
      <p:pic>
        <p:nvPicPr>
          <p:cNvPr id="5" name="Imagen 4">
            <a:extLst>
              <a:ext uri="{FF2B5EF4-FFF2-40B4-BE49-F238E27FC236}">
                <a16:creationId xmlns:a16="http://schemas.microsoft.com/office/drawing/2014/main" id="{39F0C09E-E7F0-690B-3946-5A092A3EE397}"/>
              </a:ext>
            </a:extLst>
          </p:cNvPr>
          <p:cNvPicPr>
            <a:picLocks noChangeAspect="1"/>
          </p:cNvPicPr>
          <p:nvPr/>
        </p:nvPicPr>
        <p:blipFill>
          <a:blip r:embed="rId4"/>
          <a:stretch>
            <a:fillRect/>
          </a:stretch>
        </p:blipFill>
        <p:spPr>
          <a:xfrm>
            <a:off x="7012369" y="1494326"/>
            <a:ext cx="4189039" cy="3162314"/>
          </a:xfrm>
          <a:prstGeom prst="rect">
            <a:avLst/>
          </a:prstGeom>
        </p:spPr>
      </p:pic>
      <p:pic>
        <p:nvPicPr>
          <p:cNvPr id="11" name="Imagen 10">
            <a:extLst>
              <a:ext uri="{FF2B5EF4-FFF2-40B4-BE49-F238E27FC236}">
                <a16:creationId xmlns:a16="http://schemas.microsoft.com/office/drawing/2014/main" id="{8D6092E4-1C7D-91FD-6A9A-D52145F04320}"/>
              </a:ext>
            </a:extLst>
          </p:cNvPr>
          <p:cNvPicPr>
            <a:picLocks noChangeAspect="1"/>
          </p:cNvPicPr>
          <p:nvPr/>
        </p:nvPicPr>
        <p:blipFill>
          <a:blip r:embed="rId5"/>
          <a:stretch>
            <a:fillRect/>
          </a:stretch>
        </p:blipFill>
        <p:spPr>
          <a:xfrm>
            <a:off x="609441" y="1764971"/>
            <a:ext cx="5242886" cy="2615304"/>
          </a:xfrm>
          <a:prstGeom prst="rect">
            <a:avLst/>
          </a:prstGeom>
        </p:spPr>
      </p:pic>
    </p:spTree>
    <p:extLst>
      <p:ext uri="{BB962C8B-B14F-4D97-AF65-F5344CB8AC3E}">
        <p14:creationId xmlns:p14="http://schemas.microsoft.com/office/powerpoint/2010/main" val="1203241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281E-4B83-CADF-E05C-2779A19E8BE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C614703-AB72-E989-42B5-849A55E9B3E2}"/>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a:t>Learning outcome #2a – Notebook section 2. Layout Fundamentals – </a:t>
            </a:r>
            <a:r>
              <a:rPr lang="en-US">
                <a:solidFill>
                  <a:srgbClr val="FF0000"/>
                </a:solidFill>
              </a:rPr>
              <a:t>1 slide per component</a:t>
            </a:r>
            <a:br>
              <a:rPr lang="en-US" sz="2500"/>
            </a:br>
            <a:r>
              <a:rPr lang="en-US" sz="1800" b="0" i="1"/>
              <a:t>“Use your design results from Lab2 and Lab3 to create layout instances of your designed components: DCs, MMIs, MZIs &amp; Ring Resonators” </a:t>
            </a:r>
            <a:r>
              <a:rPr lang="en-US" sz="1800" b="0" i="1">
                <a:solidFill>
                  <a:srgbClr val="FF0000"/>
                </a:solidFill>
                <a:sym typeface="Wingdings" pitchFamily="2" charset="2"/>
              </a:rPr>
              <a:t> Make cells for all your components</a:t>
            </a:r>
            <a:endParaRPr sz="2500" b="0" i="1">
              <a:solidFill>
                <a:srgbClr val="FF0000"/>
              </a:solidFill>
              <a:latin typeface="+mj-lt"/>
              <a:cs typeface="Lucida Sans"/>
            </a:endParaRPr>
          </a:p>
        </p:txBody>
      </p:sp>
      <p:pic>
        <p:nvPicPr>
          <p:cNvPr id="83" name="Gráfico 82">
            <a:extLst>
              <a:ext uri="{FF2B5EF4-FFF2-40B4-BE49-F238E27FC236}">
                <a16:creationId xmlns:a16="http://schemas.microsoft.com/office/drawing/2014/main" id="{B2356666-601E-2F0B-B414-AFB7213C2F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6398BF1-A4DD-D652-E241-5E9DB50DD57A}"/>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CEC070D5-9297-7D8B-73E0-DC21D7D5CE09}"/>
              </a:ext>
            </a:extLst>
          </p:cNvPr>
          <p:cNvSpPr>
            <a:spLocks noGrp="1"/>
          </p:cNvSpPr>
          <p:nvPr>
            <p:ph type="ftr" sz="quarter" idx="5"/>
          </p:nvPr>
        </p:nvSpPr>
        <p:spPr/>
        <p:txBody>
          <a:bodyPr/>
          <a:lstStyle/>
          <a:p>
            <a:pPr marL="12700">
              <a:spcBef>
                <a:spcPts val="15"/>
              </a:spcBef>
            </a:pPr>
            <a:r>
              <a:rPr lang="es-ES" spc="-5"/>
              <a:t>LAB 4.0. LAYOUT</a:t>
            </a:r>
          </a:p>
        </p:txBody>
      </p:sp>
      <p:sp>
        <p:nvSpPr>
          <p:cNvPr id="6" name="Rectángulo 5">
            <a:extLst>
              <a:ext uri="{FF2B5EF4-FFF2-40B4-BE49-F238E27FC236}">
                <a16:creationId xmlns:a16="http://schemas.microsoft.com/office/drawing/2014/main" id="{D8C2352E-973A-F389-F6A1-D644E07F2E7E}"/>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792D8CBF-451B-83CB-7D64-3CD9C64B8333}"/>
              </a:ext>
            </a:extLst>
          </p:cNvPr>
          <p:cNvSpPr txBox="1"/>
          <p:nvPr/>
        </p:nvSpPr>
        <p:spPr>
          <a:xfrm>
            <a:off x="2063316" y="2494306"/>
            <a:ext cx="2424831" cy="646331"/>
          </a:xfrm>
          <a:prstGeom prst="rect">
            <a:avLst/>
          </a:prstGeom>
          <a:noFill/>
        </p:spPr>
        <p:txBody>
          <a:bodyPr wrap="none" rtlCol="0">
            <a:spAutoFit/>
          </a:bodyPr>
          <a:lstStyle/>
          <a:p>
            <a:pPr algn="ctr"/>
            <a:r>
              <a:rPr lang="en-US"/>
              <a:t>Component as cell code</a:t>
            </a:r>
          </a:p>
          <a:p>
            <a:pPr algn="ctr"/>
            <a:endParaRPr lang="en-US"/>
          </a:p>
        </p:txBody>
      </p:sp>
      <p:sp>
        <p:nvSpPr>
          <p:cNvPr id="8" name="Rectángulo 7">
            <a:extLst>
              <a:ext uri="{FF2B5EF4-FFF2-40B4-BE49-F238E27FC236}">
                <a16:creationId xmlns:a16="http://schemas.microsoft.com/office/drawing/2014/main" id="{BAAAC818-8C43-CF5D-4DB7-21D1E6A0DEED}"/>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E0254F2-3F36-2B82-F469-33464298D91B}"/>
              </a:ext>
            </a:extLst>
          </p:cNvPr>
          <p:cNvSpPr txBox="1"/>
          <p:nvPr/>
        </p:nvSpPr>
        <p:spPr>
          <a:xfrm>
            <a:off x="7644330" y="2496339"/>
            <a:ext cx="2997616" cy="369332"/>
          </a:xfrm>
          <a:prstGeom prst="rect">
            <a:avLst/>
          </a:prstGeom>
          <a:noFill/>
        </p:spPr>
        <p:txBody>
          <a:bodyPr wrap="none" rtlCol="0">
            <a:spAutoFit/>
          </a:bodyPr>
          <a:lstStyle/>
          <a:p>
            <a:pPr algn="ctr"/>
            <a:r>
              <a:rPr lang="es-ES" err="1"/>
              <a:t>Component</a:t>
            </a:r>
            <a:r>
              <a:rPr lang="es-ES"/>
              <a:t> as </a:t>
            </a:r>
            <a:r>
              <a:rPr lang="es-ES" err="1"/>
              <a:t>cell</a:t>
            </a:r>
            <a:r>
              <a:rPr lang="es-ES"/>
              <a:t> </a:t>
            </a:r>
            <a:r>
              <a:rPr lang="es-ES" err="1"/>
              <a:t>screenshot</a:t>
            </a:r>
            <a:endParaRPr lang="en-US"/>
          </a:p>
        </p:txBody>
      </p:sp>
      <p:pic>
        <p:nvPicPr>
          <p:cNvPr id="4" name="Imagen 3">
            <a:extLst>
              <a:ext uri="{FF2B5EF4-FFF2-40B4-BE49-F238E27FC236}">
                <a16:creationId xmlns:a16="http://schemas.microsoft.com/office/drawing/2014/main" id="{4B281EB6-76FC-C151-70DC-966405344287}"/>
              </a:ext>
            </a:extLst>
          </p:cNvPr>
          <p:cNvPicPr>
            <a:picLocks noChangeAspect="1"/>
          </p:cNvPicPr>
          <p:nvPr/>
        </p:nvPicPr>
        <p:blipFill>
          <a:blip r:embed="rId4"/>
          <a:stretch>
            <a:fillRect/>
          </a:stretch>
        </p:blipFill>
        <p:spPr>
          <a:xfrm>
            <a:off x="6548336" y="1640572"/>
            <a:ext cx="5261076" cy="3971596"/>
          </a:xfrm>
          <a:prstGeom prst="rect">
            <a:avLst/>
          </a:prstGeom>
        </p:spPr>
      </p:pic>
      <p:pic>
        <p:nvPicPr>
          <p:cNvPr id="10" name="Imagen 9">
            <a:extLst>
              <a:ext uri="{FF2B5EF4-FFF2-40B4-BE49-F238E27FC236}">
                <a16:creationId xmlns:a16="http://schemas.microsoft.com/office/drawing/2014/main" id="{2CAFC88C-8F12-5C89-6519-97855D0382F7}"/>
              </a:ext>
            </a:extLst>
          </p:cNvPr>
          <p:cNvPicPr>
            <a:picLocks noChangeAspect="1"/>
          </p:cNvPicPr>
          <p:nvPr/>
        </p:nvPicPr>
        <p:blipFill>
          <a:blip r:embed="rId5"/>
          <a:stretch>
            <a:fillRect/>
          </a:stretch>
        </p:blipFill>
        <p:spPr>
          <a:xfrm>
            <a:off x="609441" y="2149528"/>
            <a:ext cx="5332571" cy="1582507"/>
          </a:xfrm>
          <a:prstGeom prst="rect">
            <a:avLst/>
          </a:prstGeom>
        </p:spPr>
      </p:pic>
    </p:spTree>
    <p:extLst>
      <p:ext uri="{BB962C8B-B14F-4D97-AF65-F5344CB8AC3E}">
        <p14:creationId xmlns:p14="http://schemas.microsoft.com/office/powerpoint/2010/main" val="1504002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8931D-9418-0771-41E2-0156A7A3382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8535989-7129-4263-2F59-87CB2A1DF555}"/>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a:t>Learning outcome #2a – Notebook section 2. Layout Fundamentals – </a:t>
            </a:r>
            <a:r>
              <a:rPr lang="en-US">
                <a:solidFill>
                  <a:srgbClr val="FF0000"/>
                </a:solidFill>
              </a:rPr>
              <a:t>1 slide per component</a:t>
            </a:r>
            <a:br>
              <a:rPr lang="en-US" sz="2500"/>
            </a:br>
            <a:r>
              <a:rPr lang="en-US" sz="1800" b="0" i="1"/>
              <a:t>“Use your design results from Lab2 and Lab3 to create layout instances of your designed components: DCs, MMIs, MZIs &amp; Ring Resonators” </a:t>
            </a:r>
            <a:r>
              <a:rPr lang="en-US" sz="1800" b="0" i="1">
                <a:solidFill>
                  <a:srgbClr val="FF0000"/>
                </a:solidFill>
                <a:sym typeface="Wingdings" pitchFamily="2" charset="2"/>
              </a:rPr>
              <a:t> Make cells for all your components</a:t>
            </a:r>
            <a:endParaRPr sz="2500" b="0" i="1">
              <a:solidFill>
                <a:srgbClr val="FF0000"/>
              </a:solidFill>
              <a:latin typeface="+mj-lt"/>
              <a:cs typeface="Lucida Sans"/>
            </a:endParaRPr>
          </a:p>
        </p:txBody>
      </p:sp>
      <p:pic>
        <p:nvPicPr>
          <p:cNvPr id="83" name="Gráfico 82">
            <a:extLst>
              <a:ext uri="{FF2B5EF4-FFF2-40B4-BE49-F238E27FC236}">
                <a16:creationId xmlns:a16="http://schemas.microsoft.com/office/drawing/2014/main" id="{C556B463-007B-FCA6-B084-F9615162EC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BECD6D4-D1B2-9A50-4912-BF8AF00139A1}"/>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CA83C450-C3C1-D33D-6BD3-B919BE248BB9}"/>
              </a:ext>
            </a:extLst>
          </p:cNvPr>
          <p:cNvSpPr>
            <a:spLocks noGrp="1"/>
          </p:cNvSpPr>
          <p:nvPr>
            <p:ph type="ftr" sz="quarter" idx="5"/>
          </p:nvPr>
        </p:nvSpPr>
        <p:spPr/>
        <p:txBody>
          <a:bodyPr/>
          <a:lstStyle/>
          <a:p>
            <a:pPr marL="12700">
              <a:spcBef>
                <a:spcPts val="15"/>
              </a:spcBef>
            </a:pPr>
            <a:r>
              <a:rPr lang="es-ES" spc="-5"/>
              <a:t>LAB 4.0. LAYOUT</a:t>
            </a:r>
          </a:p>
        </p:txBody>
      </p:sp>
      <p:sp>
        <p:nvSpPr>
          <p:cNvPr id="6" name="Rectángulo 5">
            <a:extLst>
              <a:ext uri="{FF2B5EF4-FFF2-40B4-BE49-F238E27FC236}">
                <a16:creationId xmlns:a16="http://schemas.microsoft.com/office/drawing/2014/main" id="{77551330-41EC-1AE1-D260-73B16A57163F}"/>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27026082-F4B0-91BC-C1F3-D223CFB11BA9}"/>
              </a:ext>
            </a:extLst>
          </p:cNvPr>
          <p:cNvSpPr txBox="1"/>
          <p:nvPr/>
        </p:nvSpPr>
        <p:spPr>
          <a:xfrm>
            <a:off x="2063316" y="2494306"/>
            <a:ext cx="2424831" cy="646331"/>
          </a:xfrm>
          <a:prstGeom prst="rect">
            <a:avLst/>
          </a:prstGeom>
          <a:noFill/>
        </p:spPr>
        <p:txBody>
          <a:bodyPr wrap="none" rtlCol="0">
            <a:spAutoFit/>
          </a:bodyPr>
          <a:lstStyle/>
          <a:p>
            <a:pPr algn="ctr"/>
            <a:r>
              <a:rPr lang="en-US"/>
              <a:t>Component as cell code</a:t>
            </a:r>
          </a:p>
          <a:p>
            <a:pPr algn="ctr"/>
            <a:endParaRPr lang="en-US"/>
          </a:p>
        </p:txBody>
      </p:sp>
      <p:sp>
        <p:nvSpPr>
          <p:cNvPr id="8" name="Rectángulo 7">
            <a:extLst>
              <a:ext uri="{FF2B5EF4-FFF2-40B4-BE49-F238E27FC236}">
                <a16:creationId xmlns:a16="http://schemas.microsoft.com/office/drawing/2014/main" id="{7138863F-9FBF-815F-10CE-C91B14E3A621}"/>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D6FACE69-B82A-2214-0D11-623057E6704D}"/>
              </a:ext>
            </a:extLst>
          </p:cNvPr>
          <p:cNvSpPr txBox="1"/>
          <p:nvPr/>
        </p:nvSpPr>
        <p:spPr>
          <a:xfrm>
            <a:off x="7644330" y="2496339"/>
            <a:ext cx="2997616" cy="369332"/>
          </a:xfrm>
          <a:prstGeom prst="rect">
            <a:avLst/>
          </a:prstGeom>
          <a:noFill/>
        </p:spPr>
        <p:txBody>
          <a:bodyPr wrap="none" rtlCol="0">
            <a:spAutoFit/>
          </a:bodyPr>
          <a:lstStyle/>
          <a:p>
            <a:pPr algn="ctr"/>
            <a:r>
              <a:rPr lang="es-ES" err="1"/>
              <a:t>Component</a:t>
            </a:r>
            <a:r>
              <a:rPr lang="es-ES"/>
              <a:t> as </a:t>
            </a:r>
            <a:r>
              <a:rPr lang="es-ES" err="1"/>
              <a:t>cell</a:t>
            </a:r>
            <a:r>
              <a:rPr lang="es-ES"/>
              <a:t> </a:t>
            </a:r>
            <a:r>
              <a:rPr lang="es-ES" err="1"/>
              <a:t>screenshot</a:t>
            </a:r>
            <a:endParaRPr lang="en-US"/>
          </a:p>
        </p:txBody>
      </p:sp>
      <p:pic>
        <p:nvPicPr>
          <p:cNvPr id="4" name="Imagen 3">
            <a:extLst>
              <a:ext uri="{FF2B5EF4-FFF2-40B4-BE49-F238E27FC236}">
                <a16:creationId xmlns:a16="http://schemas.microsoft.com/office/drawing/2014/main" id="{DD96821D-BC5C-A90C-5977-E2FE8E8BAE7F}"/>
              </a:ext>
            </a:extLst>
          </p:cNvPr>
          <p:cNvPicPr>
            <a:picLocks noChangeAspect="1"/>
          </p:cNvPicPr>
          <p:nvPr/>
        </p:nvPicPr>
        <p:blipFill>
          <a:blip r:embed="rId4"/>
          <a:stretch>
            <a:fillRect/>
          </a:stretch>
        </p:blipFill>
        <p:spPr>
          <a:xfrm>
            <a:off x="6550082" y="1595565"/>
            <a:ext cx="5186087" cy="3914987"/>
          </a:xfrm>
          <a:prstGeom prst="rect">
            <a:avLst/>
          </a:prstGeom>
        </p:spPr>
      </p:pic>
      <p:pic>
        <p:nvPicPr>
          <p:cNvPr id="10" name="Imagen 9">
            <a:extLst>
              <a:ext uri="{FF2B5EF4-FFF2-40B4-BE49-F238E27FC236}">
                <a16:creationId xmlns:a16="http://schemas.microsoft.com/office/drawing/2014/main" id="{1E9C27BF-A9CE-2776-4AFA-E002E7A9E58B}"/>
              </a:ext>
            </a:extLst>
          </p:cNvPr>
          <p:cNvPicPr>
            <a:picLocks noChangeAspect="1"/>
          </p:cNvPicPr>
          <p:nvPr/>
        </p:nvPicPr>
        <p:blipFill>
          <a:blip r:embed="rId5"/>
          <a:stretch>
            <a:fillRect/>
          </a:stretch>
        </p:blipFill>
        <p:spPr>
          <a:xfrm>
            <a:off x="670885" y="2256694"/>
            <a:ext cx="5209682" cy="1767886"/>
          </a:xfrm>
          <a:prstGeom prst="rect">
            <a:avLst/>
          </a:prstGeom>
        </p:spPr>
      </p:pic>
    </p:spTree>
    <p:extLst>
      <p:ext uri="{BB962C8B-B14F-4D97-AF65-F5344CB8AC3E}">
        <p14:creationId xmlns:p14="http://schemas.microsoft.com/office/powerpoint/2010/main" val="2430289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94A60-BE14-E2F3-B2E8-F08ECF0C1E3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5A1A51D-B55A-C79C-8869-D7B17A95DC78}"/>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a:t>Learning outcome #2a – Notebook section 2. Layout Fundamentals – </a:t>
            </a:r>
            <a:r>
              <a:rPr lang="en-US">
                <a:solidFill>
                  <a:srgbClr val="FF0000"/>
                </a:solidFill>
              </a:rPr>
              <a:t>1 slide per component</a:t>
            </a:r>
            <a:br>
              <a:rPr lang="en-US" sz="2500"/>
            </a:br>
            <a:r>
              <a:rPr lang="en-US" sz="1800" b="0" i="1"/>
              <a:t>“Use your design results from Lab2 and Lab3 to create layout instances of your designed components: DCs, MMIs, MZIs &amp; Ring Resonators” </a:t>
            </a:r>
            <a:r>
              <a:rPr lang="en-US" sz="1800" b="0" i="1">
                <a:solidFill>
                  <a:srgbClr val="FF0000"/>
                </a:solidFill>
                <a:sym typeface="Wingdings" pitchFamily="2" charset="2"/>
              </a:rPr>
              <a:t> Make cells for all your components</a:t>
            </a:r>
            <a:endParaRPr sz="2500" b="0" i="1">
              <a:solidFill>
                <a:srgbClr val="FF0000"/>
              </a:solidFill>
              <a:latin typeface="+mj-lt"/>
              <a:cs typeface="Lucida Sans"/>
            </a:endParaRPr>
          </a:p>
        </p:txBody>
      </p:sp>
      <p:pic>
        <p:nvPicPr>
          <p:cNvPr id="83" name="Gráfico 82">
            <a:extLst>
              <a:ext uri="{FF2B5EF4-FFF2-40B4-BE49-F238E27FC236}">
                <a16:creationId xmlns:a16="http://schemas.microsoft.com/office/drawing/2014/main" id="{406C32DD-3254-A4DA-81C9-8D262ED36D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D4B3648-6C7B-100E-9401-21D969BB1D78}"/>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E50A6E87-5063-F097-7CF5-59E8FAEBADEA}"/>
              </a:ext>
            </a:extLst>
          </p:cNvPr>
          <p:cNvSpPr>
            <a:spLocks noGrp="1"/>
          </p:cNvSpPr>
          <p:nvPr>
            <p:ph type="ftr" sz="quarter" idx="5"/>
          </p:nvPr>
        </p:nvSpPr>
        <p:spPr/>
        <p:txBody>
          <a:bodyPr/>
          <a:lstStyle/>
          <a:p>
            <a:pPr marL="12700">
              <a:spcBef>
                <a:spcPts val="15"/>
              </a:spcBef>
            </a:pPr>
            <a:r>
              <a:rPr lang="es-ES" spc="-5"/>
              <a:t>LAB 4.0. LAYOUT</a:t>
            </a:r>
          </a:p>
        </p:txBody>
      </p:sp>
      <p:sp>
        <p:nvSpPr>
          <p:cNvPr id="6" name="Rectángulo 5">
            <a:extLst>
              <a:ext uri="{FF2B5EF4-FFF2-40B4-BE49-F238E27FC236}">
                <a16:creationId xmlns:a16="http://schemas.microsoft.com/office/drawing/2014/main" id="{C7FB55E2-BF62-29BB-425E-2A0198C1B273}"/>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DE1D6FB2-9D92-2B61-F9EA-0F1E562B5268}"/>
              </a:ext>
            </a:extLst>
          </p:cNvPr>
          <p:cNvSpPr txBox="1"/>
          <p:nvPr/>
        </p:nvSpPr>
        <p:spPr>
          <a:xfrm>
            <a:off x="2063316" y="2494306"/>
            <a:ext cx="2424831" cy="646331"/>
          </a:xfrm>
          <a:prstGeom prst="rect">
            <a:avLst/>
          </a:prstGeom>
          <a:noFill/>
        </p:spPr>
        <p:txBody>
          <a:bodyPr wrap="none" rtlCol="0">
            <a:spAutoFit/>
          </a:bodyPr>
          <a:lstStyle/>
          <a:p>
            <a:pPr algn="ctr"/>
            <a:r>
              <a:rPr lang="en-US"/>
              <a:t>Component as cell code</a:t>
            </a:r>
          </a:p>
          <a:p>
            <a:pPr algn="ctr"/>
            <a:endParaRPr lang="en-US"/>
          </a:p>
        </p:txBody>
      </p:sp>
      <p:sp>
        <p:nvSpPr>
          <p:cNvPr id="8" name="Rectángulo 7">
            <a:extLst>
              <a:ext uri="{FF2B5EF4-FFF2-40B4-BE49-F238E27FC236}">
                <a16:creationId xmlns:a16="http://schemas.microsoft.com/office/drawing/2014/main" id="{3B2B5C5D-1FD5-ED5F-FB71-5E156E030EDC}"/>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D7A6A570-4D99-1A76-45D7-7F75452FC8BE}"/>
              </a:ext>
            </a:extLst>
          </p:cNvPr>
          <p:cNvSpPr txBox="1"/>
          <p:nvPr/>
        </p:nvSpPr>
        <p:spPr>
          <a:xfrm>
            <a:off x="7644330" y="2496339"/>
            <a:ext cx="2997616" cy="369332"/>
          </a:xfrm>
          <a:prstGeom prst="rect">
            <a:avLst/>
          </a:prstGeom>
          <a:noFill/>
        </p:spPr>
        <p:txBody>
          <a:bodyPr wrap="none" rtlCol="0">
            <a:spAutoFit/>
          </a:bodyPr>
          <a:lstStyle/>
          <a:p>
            <a:pPr algn="ctr"/>
            <a:r>
              <a:rPr lang="es-ES" err="1"/>
              <a:t>Component</a:t>
            </a:r>
            <a:r>
              <a:rPr lang="es-ES"/>
              <a:t> as </a:t>
            </a:r>
            <a:r>
              <a:rPr lang="es-ES" err="1"/>
              <a:t>cell</a:t>
            </a:r>
            <a:r>
              <a:rPr lang="es-ES"/>
              <a:t> </a:t>
            </a:r>
            <a:r>
              <a:rPr lang="es-ES" err="1"/>
              <a:t>screenshot</a:t>
            </a:r>
            <a:endParaRPr lang="en-US"/>
          </a:p>
        </p:txBody>
      </p:sp>
      <p:pic>
        <p:nvPicPr>
          <p:cNvPr id="4" name="Imagen 3">
            <a:extLst>
              <a:ext uri="{FF2B5EF4-FFF2-40B4-BE49-F238E27FC236}">
                <a16:creationId xmlns:a16="http://schemas.microsoft.com/office/drawing/2014/main" id="{B16A0271-5FA5-F6B8-453B-B78A4A27F40D}"/>
              </a:ext>
            </a:extLst>
          </p:cNvPr>
          <p:cNvPicPr>
            <a:picLocks noChangeAspect="1"/>
          </p:cNvPicPr>
          <p:nvPr/>
        </p:nvPicPr>
        <p:blipFill>
          <a:blip r:embed="rId4"/>
          <a:stretch>
            <a:fillRect/>
          </a:stretch>
        </p:blipFill>
        <p:spPr>
          <a:xfrm>
            <a:off x="7485052" y="1489222"/>
            <a:ext cx="3156894" cy="2383146"/>
          </a:xfrm>
          <a:prstGeom prst="rect">
            <a:avLst/>
          </a:prstGeom>
        </p:spPr>
      </p:pic>
      <p:pic>
        <p:nvPicPr>
          <p:cNvPr id="12" name="Imagen 11">
            <a:extLst>
              <a:ext uri="{FF2B5EF4-FFF2-40B4-BE49-F238E27FC236}">
                <a16:creationId xmlns:a16="http://schemas.microsoft.com/office/drawing/2014/main" id="{DB0ADD4E-13D0-9AEC-2B62-43D86FDE92C5}"/>
              </a:ext>
            </a:extLst>
          </p:cNvPr>
          <p:cNvPicPr>
            <a:picLocks noChangeAspect="1"/>
          </p:cNvPicPr>
          <p:nvPr/>
        </p:nvPicPr>
        <p:blipFill>
          <a:blip r:embed="rId5"/>
          <a:stretch>
            <a:fillRect/>
          </a:stretch>
        </p:blipFill>
        <p:spPr>
          <a:xfrm>
            <a:off x="7485052" y="3810937"/>
            <a:ext cx="3156894" cy="2383146"/>
          </a:xfrm>
          <a:prstGeom prst="rect">
            <a:avLst/>
          </a:prstGeom>
        </p:spPr>
      </p:pic>
      <p:pic>
        <p:nvPicPr>
          <p:cNvPr id="14" name="Imagen 13">
            <a:extLst>
              <a:ext uri="{FF2B5EF4-FFF2-40B4-BE49-F238E27FC236}">
                <a16:creationId xmlns:a16="http://schemas.microsoft.com/office/drawing/2014/main" id="{EA65B851-A0E5-8F30-5807-18484C07CF2C}"/>
              </a:ext>
            </a:extLst>
          </p:cNvPr>
          <p:cNvPicPr>
            <a:picLocks noChangeAspect="1"/>
          </p:cNvPicPr>
          <p:nvPr/>
        </p:nvPicPr>
        <p:blipFill>
          <a:blip r:embed="rId6"/>
          <a:stretch>
            <a:fillRect/>
          </a:stretch>
        </p:blipFill>
        <p:spPr>
          <a:xfrm>
            <a:off x="750814" y="1988190"/>
            <a:ext cx="5049823" cy="2508701"/>
          </a:xfrm>
          <a:prstGeom prst="rect">
            <a:avLst/>
          </a:prstGeom>
        </p:spPr>
      </p:pic>
      <p:sp>
        <p:nvSpPr>
          <p:cNvPr id="15" name="CuadroTexto 14">
            <a:extLst>
              <a:ext uri="{FF2B5EF4-FFF2-40B4-BE49-F238E27FC236}">
                <a16:creationId xmlns:a16="http://schemas.microsoft.com/office/drawing/2014/main" id="{4F3BFC16-B99E-A81B-2FA4-DF614EA5D69C}"/>
              </a:ext>
            </a:extLst>
          </p:cNvPr>
          <p:cNvSpPr txBox="1"/>
          <p:nvPr/>
        </p:nvSpPr>
        <p:spPr>
          <a:xfrm>
            <a:off x="750814" y="4783781"/>
            <a:ext cx="4837599" cy="1200329"/>
          </a:xfrm>
          <a:prstGeom prst="rect">
            <a:avLst/>
          </a:prstGeom>
          <a:noFill/>
        </p:spPr>
        <p:txBody>
          <a:bodyPr wrap="square" rtlCol="0">
            <a:spAutoFit/>
          </a:bodyPr>
          <a:lstStyle/>
          <a:p>
            <a:r>
              <a:rPr lang="es-ES"/>
              <a:t>Esto es un ejemplo de replicar el componente MZI 2x2, utilizado elementos parametrizados con diferentes valores de longitud usando la función @gf.cell   </a:t>
            </a:r>
          </a:p>
        </p:txBody>
      </p:sp>
    </p:spTree>
    <p:extLst>
      <p:ext uri="{BB962C8B-B14F-4D97-AF65-F5344CB8AC3E}">
        <p14:creationId xmlns:p14="http://schemas.microsoft.com/office/powerpoint/2010/main" val="3771165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F65CD-E541-DE77-BDCD-1B603EE2E57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93CA316-62E6-C92B-0337-A92EE0C700E7}"/>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a:t>Learning outcome #2a – Notebook section 2. Layout Fundamentals – </a:t>
            </a:r>
            <a:r>
              <a:rPr lang="en-US">
                <a:solidFill>
                  <a:srgbClr val="FF0000"/>
                </a:solidFill>
              </a:rPr>
              <a:t>1 slide per component</a:t>
            </a:r>
            <a:br>
              <a:rPr lang="en-US" sz="2500"/>
            </a:br>
            <a:r>
              <a:rPr lang="en-US" sz="1800" b="0" i="1"/>
              <a:t>“Use your design results from Lab2 and Lab3 to create layout instances of your designed components: DCs, MMIs, MZIs &amp; Ring Resonators” </a:t>
            </a:r>
            <a:r>
              <a:rPr lang="en-US" sz="1800" b="0" i="1">
                <a:solidFill>
                  <a:srgbClr val="FF0000"/>
                </a:solidFill>
                <a:sym typeface="Wingdings" pitchFamily="2" charset="2"/>
              </a:rPr>
              <a:t> Make cells for all your components</a:t>
            </a:r>
            <a:endParaRPr sz="2500" b="0" i="1">
              <a:solidFill>
                <a:srgbClr val="FF0000"/>
              </a:solidFill>
              <a:latin typeface="+mj-lt"/>
              <a:cs typeface="Lucida Sans"/>
            </a:endParaRPr>
          </a:p>
        </p:txBody>
      </p:sp>
      <p:pic>
        <p:nvPicPr>
          <p:cNvPr id="83" name="Gráfico 82">
            <a:extLst>
              <a:ext uri="{FF2B5EF4-FFF2-40B4-BE49-F238E27FC236}">
                <a16:creationId xmlns:a16="http://schemas.microsoft.com/office/drawing/2014/main" id="{8BCEDD17-DC1A-1D74-4AA7-37D733F33B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3D432B6-1357-C9CD-AAB7-104B12BB88D8}"/>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A25469CF-1232-A05C-FCAE-8CF1F5858A1A}"/>
              </a:ext>
            </a:extLst>
          </p:cNvPr>
          <p:cNvSpPr>
            <a:spLocks noGrp="1"/>
          </p:cNvSpPr>
          <p:nvPr>
            <p:ph type="ftr" sz="quarter" idx="5"/>
          </p:nvPr>
        </p:nvSpPr>
        <p:spPr/>
        <p:txBody>
          <a:bodyPr/>
          <a:lstStyle/>
          <a:p>
            <a:pPr marL="12700">
              <a:spcBef>
                <a:spcPts val="15"/>
              </a:spcBef>
            </a:pPr>
            <a:r>
              <a:rPr lang="es-ES" spc="-5"/>
              <a:t>LAB 4.0. LAYOUT</a:t>
            </a:r>
          </a:p>
        </p:txBody>
      </p:sp>
      <p:sp>
        <p:nvSpPr>
          <p:cNvPr id="6" name="Rectángulo 5">
            <a:extLst>
              <a:ext uri="{FF2B5EF4-FFF2-40B4-BE49-F238E27FC236}">
                <a16:creationId xmlns:a16="http://schemas.microsoft.com/office/drawing/2014/main" id="{6980D226-6990-D2DE-F618-C6FD161B48FA}"/>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123C0EB1-6390-0785-0452-051D5B0CE37B}"/>
              </a:ext>
            </a:extLst>
          </p:cNvPr>
          <p:cNvSpPr txBox="1"/>
          <p:nvPr/>
        </p:nvSpPr>
        <p:spPr>
          <a:xfrm>
            <a:off x="2063316" y="2494306"/>
            <a:ext cx="2424831" cy="646331"/>
          </a:xfrm>
          <a:prstGeom prst="rect">
            <a:avLst/>
          </a:prstGeom>
          <a:noFill/>
        </p:spPr>
        <p:txBody>
          <a:bodyPr wrap="none" rtlCol="0">
            <a:spAutoFit/>
          </a:bodyPr>
          <a:lstStyle/>
          <a:p>
            <a:pPr algn="ctr"/>
            <a:r>
              <a:rPr lang="en-US"/>
              <a:t>Component as cell code</a:t>
            </a:r>
          </a:p>
          <a:p>
            <a:pPr algn="ctr"/>
            <a:endParaRPr lang="en-US"/>
          </a:p>
        </p:txBody>
      </p:sp>
      <p:sp>
        <p:nvSpPr>
          <p:cNvPr id="8" name="Rectángulo 7">
            <a:extLst>
              <a:ext uri="{FF2B5EF4-FFF2-40B4-BE49-F238E27FC236}">
                <a16:creationId xmlns:a16="http://schemas.microsoft.com/office/drawing/2014/main" id="{D2F6C38C-8D6D-6DEA-EC8F-376E67A33B0B}"/>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3EEA2EEE-5F17-3654-C1AA-68F0BEFC1E56}"/>
              </a:ext>
            </a:extLst>
          </p:cNvPr>
          <p:cNvSpPr txBox="1"/>
          <p:nvPr/>
        </p:nvSpPr>
        <p:spPr>
          <a:xfrm>
            <a:off x="7644330" y="2496339"/>
            <a:ext cx="2997616" cy="369332"/>
          </a:xfrm>
          <a:prstGeom prst="rect">
            <a:avLst/>
          </a:prstGeom>
          <a:noFill/>
        </p:spPr>
        <p:txBody>
          <a:bodyPr wrap="none" rtlCol="0">
            <a:spAutoFit/>
          </a:bodyPr>
          <a:lstStyle/>
          <a:p>
            <a:pPr algn="ctr"/>
            <a:r>
              <a:rPr lang="es-ES" err="1"/>
              <a:t>Component</a:t>
            </a:r>
            <a:r>
              <a:rPr lang="es-ES"/>
              <a:t> as </a:t>
            </a:r>
            <a:r>
              <a:rPr lang="es-ES" err="1"/>
              <a:t>cell</a:t>
            </a:r>
            <a:r>
              <a:rPr lang="es-ES"/>
              <a:t> </a:t>
            </a:r>
            <a:r>
              <a:rPr lang="es-ES" err="1"/>
              <a:t>screenshot</a:t>
            </a:r>
            <a:endParaRPr lang="en-US"/>
          </a:p>
        </p:txBody>
      </p:sp>
      <p:pic>
        <p:nvPicPr>
          <p:cNvPr id="4" name="Imagen 3">
            <a:extLst>
              <a:ext uri="{FF2B5EF4-FFF2-40B4-BE49-F238E27FC236}">
                <a16:creationId xmlns:a16="http://schemas.microsoft.com/office/drawing/2014/main" id="{F8FBB3DC-3775-F326-F481-66660EFCD4A8}"/>
              </a:ext>
            </a:extLst>
          </p:cNvPr>
          <p:cNvPicPr>
            <a:picLocks noChangeAspect="1"/>
          </p:cNvPicPr>
          <p:nvPr/>
        </p:nvPicPr>
        <p:blipFill>
          <a:blip r:embed="rId4"/>
          <a:stretch>
            <a:fillRect/>
          </a:stretch>
        </p:blipFill>
        <p:spPr>
          <a:xfrm>
            <a:off x="6628220" y="1775376"/>
            <a:ext cx="4954339" cy="3740040"/>
          </a:xfrm>
          <a:prstGeom prst="rect">
            <a:avLst/>
          </a:prstGeom>
        </p:spPr>
      </p:pic>
      <p:pic>
        <p:nvPicPr>
          <p:cNvPr id="10" name="Imagen 9">
            <a:extLst>
              <a:ext uri="{FF2B5EF4-FFF2-40B4-BE49-F238E27FC236}">
                <a16:creationId xmlns:a16="http://schemas.microsoft.com/office/drawing/2014/main" id="{9EF9EFCF-228E-B58C-513B-96DEE2C6FA24}"/>
              </a:ext>
            </a:extLst>
          </p:cNvPr>
          <p:cNvPicPr>
            <a:picLocks noChangeAspect="1"/>
          </p:cNvPicPr>
          <p:nvPr/>
        </p:nvPicPr>
        <p:blipFill>
          <a:blip r:embed="rId5"/>
          <a:stretch>
            <a:fillRect/>
          </a:stretch>
        </p:blipFill>
        <p:spPr>
          <a:xfrm>
            <a:off x="685800" y="1846542"/>
            <a:ext cx="5192258" cy="2116626"/>
          </a:xfrm>
          <a:prstGeom prst="rect">
            <a:avLst/>
          </a:prstGeom>
        </p:spPr>
      </p:pic>
    </p:spTree>
    <p:extLst>
      <p:ext uri="{BB962C8B-B14F-4D97-AF65-F5344CB8AC3E}">
        <p14:creationId xmlns:p14="http://schemas.microsoft.com/office/powerpoint/2010/main" val="3792725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3016E-0539-4F2A-49FD-750CF91EFF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059B596-1B9F-7539-0F4A-261AF4FE700C}"/>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a:t>Learning outcome #2a – Notebook section 2. Layout Fundamentals – </a:t>
            </a:r>
            <a:r>
              <a:rPr lang="en-US">
                <a:solidFill>
                  <a:srgbClr val="FF0000"/>
                </a:solidFill>
              </a:rPr>
              <a:t>1 slide per component</a:t>
            </a:r>
            <a:br>
              <a:rPr lang="en-US" sz="2500"/>
            </a:br>
            <a:r>
              <a:rPr lang="en-US" sz="1800" b="0" i="1"/>
              <a:t>“Use your design results from Lab2 and Lab3 to create layout instances of your designed components: DCs, MMIs, MZIs &amp; Ring Resonators” </a:t>
            </a:r>
            <a:r>
              <a:rPr lang="en-US" sz="1800" b="0" i="1">
                <a:solidFill>
                  <a:srgbClr val="FF0000"/>
                </a:solidFill>
                <a:sym typeface="Wingdings" pitchFamily="2" charset="2"/>
              </a:rPr>
              <a:t> Make cells for all your components</a:t>
            </a:r>
            <a:endParaRPr sz="2500" b="0" i="1">
              <a:solidFill>
                <a:srgbClr val="FF0000"/>
              </a:solidFill>
              <a:latin typeface="+mj-lt"/>
              <a:cs typeface="Lucida Sans"/>
            </a:endParaRPr>
          </a:p>
        </p:txBody>
      </p:sp>
      <p:pic>
        <p:nvPicPr>
          <p:cNvPr id="83" name="Gráfico 82">
            <a:extLst>
              <a:ext uri="{FF2B5EF4-FFF2-40B4-BE49-F238E27FC236}">
                <a16:creationId xmlns:a16="http://schemas.microsoft.com/office/drawing/2014/main" id="{A16004FC-8840-C376-CC6F-D1FF0F17D3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30F7CB1A-2441-F03D-89BC-246F83BD1133}"/>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DE75C048-0397-F0CF-2394-A5ABDA810860}"/>
              </a:ext>
            </a:extLst>
          </p:cNvPr>
          <p:cNvSpPr>
            <a:spLocks noGrp="1"/>
          </p:cNvSpPr>
          <p:nvPr>
            <p:ph type="ftr" sz="quarter" idx="5"/>
          </p:nvPr>
        </p:nvSpPr>
        <p:spPr/>
        <p:txBody>
          <a:bodyPr/>
          <a:lstStyle/>
          <a:p>
            <a:pPr marL="12700">
              <a:spcBef>
                <a:spcPts val="15"/>
              </a:spcBef>
            </a:pPr>
            <a:r>
              <a:rPr lang="es-ES" spc="-5"/>
              <a:t>LAB 4.0. LAYOUT</a:t>
            </a:r>
          </a:p>
        </p:txBody>
      </p:sp>
      <p:sp>
        <p:nvSpPr>
          <p:cNvPr id="6" name="Rectángulo 5">
            <a:extLst>
              <a:ext uri="{FF2B5EF4-FFF2-40B4-BE49-F238E27FC236}">
                <a16:creationId xmlns:a16="http://schemas.microsoft.com/office/drawing/2014/main" id="{FAEAE3AD-49D1-AA18-94F1-86ED64EC6B55}"/>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2A947C10-A3E9-567B-F195-D2A98B6D8929}"/>
              </a:ext>
            </a:extLst>
          </p:cNvPr>
          <p:cNvSpPr txBox="1"/>
          <p:nvPr/>
        </p:nvSpPr>
        <p:spPr>
          <a:xfrm>
            <a:off x="2063316" y="2494306"/>
            <a:ext cx="2424831" cy="646331"/>
          </a:xfrm>
          <a:prstGeom prst="rect">
            <a:avLst/>
          </a:prstGeom>
          <a:noFill/>
        </p:spPr>
        <p:txBody>
          <a:bodyPr wrap="none" rtlCol="0">
            <a:spAutoFit/>
          </a:bodyPr>
          <a:lstStyle/>
          <a:p>
            <a:pPr algn="ctr"/>
            <a:r>
              <a:rPr lang="en-US"/>
              <a:t>Component as cell code</a:t>
            </a:r>
          </a:p>
          <a:p>
            <a:pPr algn="ctr"/>
            <a:endParaRPr lang="en-US"/>
          </a:p>
        </p:txBody>
      </p:sp>
      <p:sp>
        <p:nvSpPr>
          <p:cNvPr id="8" name="Rectángulo 7">
            <a:extLst>
              <a:ext uri="{FF2B5EF4-FFF2-40B4-BE49-F238E27FC236}">
                <a16:creationId xmlns:a16="http://schemas.microsoft.com/office/drawing/2014/main" id="{F74B411C-A23A-EE64-AD8B-E447840563A3}"/>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7EE067C1-FB85-824C-6AEA-9596D5461279}"/>
              </a:ext>
            </a:extLst>
          </p:cNvPr>
          <p:cNvSpPr txBox="1"/>
          <p:nvPr/>
        </p:nvSpPr>
        <p:spPr>
          <a:xfrm>
            <a:off x="7644330" y="2496339"/>
            <a:ext cx="2997616" cy="369332"/>
          </a:xfrm>
          <a:prstGeom prst="rect">
            <a:avLst/>
          </a:prstGeom>
          <a:noFill/>
        </p:spPr>
        <p:txBody>
          <a:bodyPr wrap="none" rtlCol="0">
            <a:spAutoFit/>
          </a:bodyPr>
          <a:lstStyle/>
          <a:p>
            <a:pPr algn="ctr"/>
            <a:r>
              <a:rPr lang="es-ES" err="1"/>
              <a:t>Component</a:t>
            </a:r>
            <a:r>
              <a:rPr lang="es-ES"/>
              <a:t> as </a:t>
            </a:r>
            <a:r>
              <a:rPr lang="es-ES" err="1"/>
              <a:t>cell</a:t>
            </a:r>
            <a:r>
              <a:rPr lang="es-ES"/>
              <a:t> </a:t>
            </a:r>
            <a:r>
              <a:rPr lang="es-ES" err="1"/>
              <a:t>screenshot</a:t>
            </a:r>
            <a:endParaRPr lang="en-US"/>
          </a:p>
        </p:txBody>
      </p:sp>
      <p:pic>
        <p:nvPicPr>
          <p:cNvPr id="4" name="Imagen 3">
            <a:extLst>
              <a:ext uri="{FF2B5EF4-FFF2-40B4-BE49-F238E27FC236}">
                <a16:creationId xmlns:a16="http://schemas.microsoft.com/office/drawing/2014/main" id="{2EA40C09-86EE-318E-BE89-04895C6452FE}"/>
              </a:ext>
            </a:extLst>
          </p:cNvPr>
          <p:cNvPicPr>
            <a:picLocks noChangeAspect="1"/>
          </p:cNvPicPr>
          <p:nvPr/>
        </p:nvPicPr>
        <p:blipFill>
          <a:blip r:embed="rId4"/>
          <a:stretch>
            <a:fillRect/>
          </a:stretch>
        </p:blipFill>
        <p:spPr>
          <a:xfrm>
            <a:off x="6656718" y="1751868"/>
            <a:ext cx="4972815" cy="3753988"/>
          </a:xfrm>
          <a:prstGeom prst="rect">
            <a:avLst/>
          </a:prstGeom>
        </p:spPr>
      </p:pic>
      <p:pic>
        <p:nvPicPr>
          <p:cNvPr id="10" name="Imagen 9">
            <a:extLst>
              <a:ext uri="{FF2B5EF4-FFF2-40B4-BE49-F238E27FC236}">
                <a16:creationId xmlns:a16="http://schemas.microsoft.com/office/drawing/2014/main" id="{C42F5E4D-B407-FE22-4832-6D537C40CACB}"/>
              </a:ext>
            </a:extLst>
          </p:cNvPr>
          <p:cNvPicPr>
            <a:picLocks noChangeAspect="1"/>
          </p:cNvPicPr>
          <p:nvPr/>
        </p:nvPicPr>
        <p:blipFill>
          <a:blip r:embed="rId5"/>
          <a:stretch>
            <a:fillRect/>
          </a:stretch>
        </p:blipFill>
        <p:spPr>
          <a:xfrm>
            <a:off x="609441" y="2354793"/>
            <a:ext cx="5403951" cy="1571688"/>
          </a:xfrm>
          <a:prstGeom prst="rect">
            <a:avLst/>
          </a:prstGeom>
        </p:spPr>
      </p:pic>
    </p:spTree>
    <p:extLst>
      <p:ext uri="{BB962C8B-B14F-4D97-AF65-F5344CB8AC3E}">
        <p14:creationId xmlns:p14="http://schemas.microsoft.com/office/powerpoint/2010/main" val="461809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463A-FEB0-DAC2-C592-982AED782F7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D9825A0-3864-7B82-F4C0-6912BF1AE35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#3 – Notebook section 3. Complete layout</a:t>
            </a:r>
            <a:endParaRPr sz="2500" b="0" i="1">
              <a:latin typeface="+mj-lt"/>
              <a:cs typeface="Lucida Sans"/>
            </a:endParaRPr>
          </a:p>
        </p:txBody>
      </p:sp>
      <p:pic>
        <p:nvPicPr>
          <p:cNvPr id="83" name="Gráfico 82">
            <a:extLst>
              <a:ext uri="{FF2B5EF4-FFF2-40B4-BE49-F238E27FC236}">
                <a16:creationId xmlns:a16="http://schemas.microsoft.com/office/drawing/2014/main" id="{0DEB6AD1-A7A1-CBBC-33E2-C1A03F2E3E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0F7002D-478B-4959-3169-5E518898EBC4}"/>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C305F97E-3B7E-8203-F806-FFA5E41962D7}"/>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58187553-D412-F56C-DD26-11B2C97C2B31}"/>
              </a:ext>
            </a:extLst>
          </p:cNvPr>
          <p:cNvSpPr txBox="1"/>
          <p:nvPr/>
        </p:nvSpPr>
        <p:spPr>
          <a:xfrm>
            <a:off x="609600" y="990285"/>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a:latin typeface="Arial" panose="020B0604020202020204" pitchFamily="34" charset="0"/>
                <a:cs typeface="Arial" panose="020B0604020202020204" pitchFamily="34" charset="0"/>
              </a:rPr>
              <a:t>Read and describe 4 code blocks in section 3</a:t>
            </a: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Python code block 1: </a:t>
            </a:r>
          </a:p>
          <a:p>
            <a:pPr algn="just"/>
            <a:r>
              <a:rPr lang="es-ES" sz="1200" b="0" i="0" u="none" strike="noStrike">
                <a:solidFill>
                  <a:srgbClr val="000000"/>
                </a:solidFill>
                <a:effectLst/>
                <a:latin typeface="Arial" panose="020B0604020202020204" pitchFamily="34" charset="0"/>
                <a:cs typeface="Arial" panose="020B0604020202020204" pitchFamily="34" charset="0"/>
              </a:rPr>
              <a:t>Construye el componente </a:t>
            </a:r>
            <a:r>
              <a:rPr lang="es-ES" sz="1200" b="0" i="0" u="none" strike="noStrike" err="1">
                <a:solidFill>
                  <a:srgbClr val="000000"/>
                </a:solidFill>
                <a:effectLst/>
                <a:latin typeface="Arial" panose="020B0604020202020204" pitchFamily="34" charset="0"/>
                <a:cs typeface="Arial" panose="020B0604020202020204" pitchFamily="34" charset="0"/>
              </a:rPr>
              <a:t>main</a:t>
            </a:r>
            <a:r>
              <a:rPr lang="es-ES" sz="1200" b="0" i="0" u="none" strike="noStrike">
                <a:solidFill>
                  <a:srgbClr val="000000"/>
                </a:solidFill>
                <a:effectLst/>
                <a:latin typeface="Arial" panose="020B0604020202020204" pitchFamily="34" charset="0"/>
                <a:cs typeface="Arial" panose="020B0604020202020204" pitchFamily="34" charset="0"/>
              </a:rPr>
              <a:t> instanciando el die como host y añadiendo un MMI 1x2 centrado en el die. Después enruta tres </a:t>
            </a:r>
            <a:r>
              <a:rPr lang="es-ES" sz="1200" b="0" i="0" u="none" strike="noStrike" err="1">
                <a:solidFill>
                  <a:srgbClr val="000000"/>
                </a:solidFill>
                <a:effectLst/>
                <a:latin typeface="Arial" panose="020B0604020202020204" pitchFamily="34" charset="0"/>
                <a:cs typeface="Arial" panose="020B0604020202020204" pitchFamily="34" charset="0"/>
              </a:rPr>
              <a:t>waveguides</a:t>
            </a:r>
            <a:r>
              <a:rPr lang="es-ES" sz="1200" b="0" i="0" u="none" strike="noStrike">
                <a:solidFill>
                  <a:srgbClr val="000000"/>
                </a:solidFill>
                <a:effectLst/>
                <a:latin typeface="Arial" panose="020B0604020202020204" pitchFamily="34" charset="0"/>
                <a:cs typeface="Arial" panose="020B0604020202020204" pitchFamily="34" charset="0"/>
              </a:rPr>
              <a:t> de I/O (uno de entrada y dos de salida) desde los bordes del die hasta los puertos del MMI usando </a:t>
            </a:r>
            <a:r>
              <a:rPr lang="es-ES" sz="1200" b="0" i="0" u="none" strike="noStrike" err="1">
                <a:solidFill>
                  <a:srgbClr val="000000"/>
                </a:solidFill>
                <a:effectLst/>
                <a:latin typeface="Arial" panose="020B0604020202020204" pitchFamily="34" charset="0"/>
                <a:cs typeface="Arial" panose="020B0604020202020204" pitchFamily="34" charset="0"/>
              </a:rPr>
              <a:t>route_single_sbend</a:t>
            </a:r>
            <a:r>
              <a:rPr lang="es-ES" sz="1200" b="0" i="0" u="none" strike="noStrike">
                <a:solidFill>
                  <a:srgbClr val="000000"/>
                </a:solidFill>
                <a:effectLst/>
                <a:latin typeface="Arial" panose="020B0604020202020204" pitchFamily="34" charset="0"/>
                <a:cs typeface="Arial" panose="020B0604020202020204" pitchFamily="34" charset="0"/>
              </a:rPr>
              <a:t>.</a:t>
            </a: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Python code block 2: </a:t>
            </a:r>
          </a:p>
          <a:p>
            <a:pPr algn="just"/>
            <a:r>
              <a:rPr lang="en-US" sz="1200">
                <a:latin typeface="Arial" panose="020B0604020202020204" pitchFamily="34" charset="0"/>
                <a:cs typeface="Arial" panose="020B0604020202020204" pitchFamily="34" charset="0"/>
              </a:rPr>
              <a:t> </a:t>
            </a:r>
            <a:r>
              <a:rPr lang="es-ES" sz="1200">
                <a:latin typeface="Arial" panose="020B0604020202020204" pitchFamily="34" charset="0"/>
                <a:cs typeface="Arial" panose="020B0604020202020204" pitchFamily="34" charset="0"/>
              </a:rPr>
              <a:t>Prueba la construcción de un árbol MMI 1x4 de forma libre (sin @gf.cell todavía): instancia tres MMI 1x2, desplaza los dos últimos en X e Y, y los conecta con </a:t>
            </a:r>
            <a:r>
              <a:rPr lang="es-ES" sz="1200" err="1">
                <a:latin typeface="Arial" panose="020B0604020202020204" pitchFamily="34" charset="0"/>
                <a:cs typeface="Arial" panose="020B0604020202020204" pitchFamily="34" charset="0"/>
              </a:rPr>
              <a:t>route_single_sbend</a:t>
            </a:r>
            <a:r>
              <a:rPr lang="es-ES" sz="1200">
                <a:latin typeface="Arial" panose="020B0604020202020204" pitchFamily="34" charset="0"/>
                <a:cs typeface="Arial" panose="020B0604020202020204" pitchFamily="34" charset="0"/>
              </a:rPr>
              <a:t> formando una estructura árbol de dos niveles.</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Python code block 3:</a:t>
            </a:r>
          </a:p>
          <a:p>
            <a:pPr algn="just"/>
            <a:r>
              <a:rPr lang="en-US" sz="1200">
                <a:latin typeface="Arial" panose="020B0604020202020204" pitchFamily="34" charset="0"/>
                <a:cs typeface="Arial" panose="020B0604020202020204" pitchFamily="34" charset="0"/>
              </a:rPr>
              <a:t> </a:t>
            </a:r>
            <a:r>
              <a:rPr lang="es-ES" sz="1200">
                <a:latin typeface="Arial" panose="020B0604020202020204" pitchFamily="34" charset="0"/>
                <a:cs typeface="Arial" panose="020B0604020202020204" pitchFamily="34" charset="0"/>
              </a:rPr>
              <a:t>Convierte el árbol MMI 1x4 en una celda reutilizable con @gf.cell </a:t>
            </a:r>
            <a:r>
              <a:rPr lang="es-ES" sz="1200" err="1">
                <a:latin typeface="Arial" panose="020B0604020202020204" pitchFamily="34" charset="0"/>
                <a:cs typeface="Arial" panose="020B0604020202020204" pitchFamily="34" charset="0"/>
              </a:rPr>
              <a:t>def</a:t>
            </a:r>
            <a:r>
              <a:rPr lang="es-ES" sz="1200">
                <a:latin typeface="Arial" panose="020B0604020202020204" pitchFamily="34" charset="0"/>
                <a:cs typeface="Arial" panose="020B0604020202020204" pitchFamily="34" charset="0"/>
              </a:rPr>
              <a:t> mmi_tree_1x4(</a:t>
            </a:r>
            <a:r>
              <a:rPr lang="es-ES" sz="1200" err="1">
                <a:latin typeface="Arial" panose="020B0604020202020204" pitchFamily="34" charset="0"/>
                <a:cs typeface="Arial" panose="020B0604020202020204" pitchFamily="34" charset="0"/>
              </a:rPr>
              <a:t>pad_x</a:t>
            </a:r>
            <a:r>
              <a:rPr lang="es-ES" sz="1200">
                <a:latin typeface="Arial" panose="020B0604020202020204" pitchFamily="34" charset="0"/>
                <a:cs typeface="Arial" panose="020B0604020202020204" pitchFamily="34" charset="0"/>
              </a:rPr>
              <a:t>, </a:t>
            </a:r>
            <a:r>
              <a:rPr lang="es-ES" sz="1200" err="1">
                <a:latin typeface="Arial" panose="020B0604020202020204" pitchFamily="34" charset="0"/>
                <a:cs typeface="Arial" panose="020B0604020202020204" pitchFamily="34" charset="0"/>
              </a:rPr>
              <a:t>pad_y</a:t>
            </a:r>
            <a:r>
              <a:rPr lang="es-ES" sz="1200">
                <a:latin typeface="Arial" panose="020B0604020202020204" pitchFamily="34" charset="0"/>
                <a:cs typeface="Arial" panose="020B0604020202020204" pitchFamily="34" charset="0"/>
              </a:rPr>
              <a:t>), expone sus puertos de entrada y salida, y la añade al componente </a:t>
            </a:r>
            <a:r>
              <a:rPr lang="es-ES" sz="1200" err="1">
                <a:latin typeface="Arial" panose="020B0604020202020204" pitchFamily="34" charset="0"/>
                <a:cs typeface="Arial" panose="020B0604020202020204" pitchFamily="34" charset="0"/>
              </a:rPr>
              <a:t>main</a:t>
            </a:r>
            <a:r>
              <a:rPr lang="es-ES" sz="1200">
                <a:latin typeface="Arial" panose="020B0604020202020204" pitchFamily="34" charset="0"/>
                <a:cs typeface="Arial" panose="020B0604020202020204" pitchFamily="34" charset="0"/>
              </a:rPr>
              <a:t>.</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Python code block 4: </a:t>
            </a:r>
          </a:p>
          <a:p>
            <a:pPr algn="just"/>
            <a:r>
              <a:rPr lang="es-ES" sz="1200">
                <a:latin typeface="Arial" panose="020B0604020202020204" pitchFamily="34" charset="0"/>
                <a:cs typeface="Arial" panose="020B0604020202020204" pitchFamily="34" charset="0"/>
              </a:rPr>
              <a:t>Añade dos </a:t>
            </a:r>
            <a:r>
              <a:rPr lang="es-ES" sz="1200" err="1">
                <a:latin typeface="Arial" panose="020B0604020202020204" pitchFamily="34" charset="0"/>
                <a:cs typeface="Arial" panose="020B0604020202020204" pitchFamily="34" charset="0"/>
              </a:rPr>
              <a:t>arrays</a:t>
            </a:r>
            <a:r>
              <a:rPr lang="es-ES" sz="1200">
                <a:latin typeface="Arial" panose="020B0604020202020204" pitchFamily="34" charset="0"/>
                <a:cs typeface="Arial" panose="020B0604020202020204" pitchFamily="34" charset="0"/>
              </a:rPr>
              <a:t> de </a:t>
            </a:r>
            <a:r>
              <a:rPr lang="es-ES" sz="1200" err="1">
                <a:latin typeface="Arial" panose="020B0604020202020204" pitchFamily="34" charset="0"/>
                <a:cs typeface="Arial" panose="020B0604020202020204" pitchFamily="34" charset="0"/>
              </a:rPr>
              <a:t>waveguides</a:t>
            </a:r>
            <a:r>
              <a:rPr lang="es-ES" sz="1200">
                <a:latin typeface="Arial" panose="020B0604020202020204" pitchFamily="34" charset="0"/>
                <a:cs typeface="Arial" panose="020B0604020202020204" pitchFamily="34" charset="0"/>
              </a:rPr>
              <a:t> rectos (</a:t>
            </a:r>
            <a:r>
              <a:rPr lang="es-ES" sz="1200" err="1">
                <a:latin typeface="Arial" panose="020B0604020202020204" pitchFamily="34" charset="0"/>
                <a:cs typeface="Arial" panose="020B0604020202020204" pitchFamily="34" charset="0"/>
              </a:rPr>
              <a:t>straight_array</a:t>
            </a:r>
            <a:r>
              <a:rPr lang="es-ES" sz="1200">
                <a:latin typeface="Arial" panose="020B0604020202020204" pitchFamily="34" charset="0"/>
                <a:cs typeface="Arial" panose="020B0604020202020204" pitchFamily="34" charset="0"/>
              </a:rPr>
              <a:t> de 4 elementos espaciados 200 µm) como I/Os en los bordes izquierdo y derecho del die, posiciona el árbol mmi_tree_1x4 en el centro, y enruta todos sus puertos a los </a:t>
            </a:r>
            <a:r>
              <a:rPr lang="es-ES" sz="1200" err="1">
                <a:latin typeface="Arial" panose="020B0604020202020204" pitchFamily="34" charset="0"/>
                <a:cs typeface="Arial" panose="020B0604020202020204" pitchFamily="34" charset="0"/>
              </a:rPr>
              <a:t>arrays</a:t>
            </a:r>
            <a:r>
              <a:rPr lang="es-ES" sz="1200">
                <a:latin typeface="Arial" panose="020B0604020202020204" pitchFamily="34" charset="0"/>
                <a:cs typeface="Arial" panose="020B0604020202020204" pitchFamily="34" charset="0"/>
              </a:rPr>
              <a:t> de I/O con </a:t>
            </a:r>
            <a:r>
              <a:rPr lang="es-ES" sz="1200" err="1">
                <a:latin typeface="Arial" panose="020B0604020202020204" pitchFamily="34" charset="0"/>
                <a:cs typeface="Arial" panose="020B0604020202020204" pitchFamily="34" charset="0"/>
              </a:rPr>
              <a:t>route_single_sbend</a:t>
            </a:r>
            <a:r>
              <a:rPr lang="es-ES" sz="1200">
                <a:latin typeface="Arial" panose="020B0604020202020204" pitchFamily="34" charset="0"/>
                <a:cs typeface="Arial" panose="020B0604020202020204" pitchFamily="34" charset="0"/>
              </a:rPr>
              <a:t>.</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F4B67F4D-126C-4796-4E73-E68F0F3CB6B3}"/>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4F5FE71-3005-DD28-5A06-1330678AD855}"/>
              </a:ext>
            </a:extLst>
          </p:cNvPr>
          <p:cNvSpPr txBox="1"/>
          <p:nvPr/>
        </p:nvSpPr>
        <p:spPr>
          <a:xfrm>
            <a:off x="7663860" y="3105834"/>
            <a:ext cx="2807885" cy="646331"/>
          </a:xfrm>
          <a:prstGeom prst="rect">
            <a:avLst/>
          </a:prstGeom>
          <a:noFill/>
        </p:spPr>
        <p:txBody>
          <a:bodyPr wrap="none" rtlCol="0">
            <a:spAutoFit/>
          </a:bodyPr>
          <a:lstStyle/>
          <a:p>
            <a:pPr algn="ctr"/>
            <a:r>
              <a:rPr lang="es-ES"/>
              <a:t>Complete </a:t>
            </a:r>
            <a:r>
              <a:rPr lang="es-ES" err="1"/>
              <a:t>layout</a:t>
            </a:r>
            <a:r>
              <a:rPr lang="es-ES"/>
              <a:t> </a:t>
            </a:r>
            <a:r>
              <a:rPr lang="es-ES" err="1"/>
              <a:t>screenshot</a:t>
            </a:r>
            <a:endParaRPr lang="es-ES"/>
          </a:p>
          <a:p>
            <a:pPr algn="ctr"/>
            <a:r>
              <a:rPr lang="es-ES"/>
              <a:t> </a:t>
            </a:r>
            <a:r>
              <a:rPr lang="es-ES" err="1"/>
              <a:t>screenshot</a:t>
            </a:r>
            <a:endParaRPr lang="en-US"/>
          </a:p>
        </p:txBody>
      </p:sp>
      <p:pic>
        <p:nvPicPr>
          <p:cNvPr id="5" name="Imagen 4">
            <a:extLst>
              <a:ext uri="{FF2B5EF4-FFF2-40B4-BE49-F238E27FC236}">
                <a16:creationId xmlns:a16="http://schemas.microsoft.com/office/drawing/2014/main" id="{1AF4DE84-81D6-DB0F-3C61-7B7CC0B796CF}"/>
              </a:ext>
            </a:extLst>
          </p:cNvPr>
          <p:cNvPicPr>
            <a:picLocks noChangeAspect="1"/>
          </p:cNvPicPr>
          <p:nvPr/>
        </p:nvPicPr>
        <p:blipFill>
          <a:blip r:embed="rId4"/>
          <a:stretch>
            <a:fillRect/>
          </a:stretch>
        </p:blipFill>
        <p:spPr>
          <a:xfrm>
            <a:off x="6356295" y="1534323"/>
            <a:ext cx="5423007" cy="4093839"/>
          </a:xfrm>
          <a:prstGeom prst="rect">
            <a:avLst/>
          </a:prstGeom>
        </p:spPr>
      </p:pic>
    </p:spTree>
    <p:extLst>
      <p:ext uri="{BB962C8B-B14F-4D97-AF65-F5344CB8AC3E}">
        <p14:creationId xmlns:p14="http://schemas.microsoft.com/office/powerpoint/2010/main" val="3190811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787F0-CB2C-2FE5-5614-A0F16A628E7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02B708D-0704-5977-EC6F-88CF05CBBE8F}"/>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#4 – Notebook section 4. Exercises – 1 slide per bullet point</a:t>
            </a:r>
            <a:endParaRPr sz="2500" b="0" i="1">
              <a:latin typeface="+mj-lt"/>
              <a:cs typeface="Lucida Sans"/>
            </a:endParaRPr>
          </a:p>
        </p:txBody>
      </p:sp>
      <p:pic>
        <p:nvPicPr>
          <p:cNvPr id="83" name="Gráfico 82">
            <a:extLst>
              <a:ext uri="{FF2B5EF4-FFF2-40B4-BE49-F238E27FC236}">
                <a16:creationId xmlns:a16="http://schemas.microsoft.com/office/drawing/2014/main" id="{25386122-0096-23D3-AB3A-550FBF0A31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13FD8D6-DEAF-544C-DE8A-FEED1CFD257F}"/>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30B40145-CD7B-EB6E-E37D-B6E973BB915B}"/>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3C6D55FC-5031-5DAE-893E-BF1355747932}"/>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r>
              <a:rPr lang="en-US" sz="1200" b="1" dirty="0">
                <a:latin typeface="Arial" panose="020B0604020202020204" pitchFamily="34" charset="0"/>
                <a:cs typeface="Arial" panose="020B0604020202020204" pitchFamily="34" charset="0"/>
              </a:rPr>
              <a:t>Part a) Creating components</a:t>
            </a:r>
          </a:p>
          <a:p>
            <a:pPr algn="just"/>
            <a:r>
              <a:rPr lang="en-US" sz="1200" dirty="0">
                <a:latin typeface="Arial" panose="020B0604020202020204" pitchFamily="34" charset="0"/>
                <a:cs typeface="Arial" panose="020B0604020202020204" pitchFamily="34" charset="0"/>
              </a:rPr>
              <a:t>- Create a cell component for a unbalanced MZI, using 2x2 50:50 MMIs with arm length difference as parameter</a:t>
            </a:r>
          </a:p>
          <a:p>
            <a:pPr algn="just"/>
            <a:r>
              <a:rPr lang="en-US" sz="1200" dirty="0">
                <a:latin typeface="Arial" panose="020B0604020202020204" pitchFamily="34" charset="0"/>
                <a:cs typeface="Arial" panose="020B0604020202020204" pitchFamily="34" charset="0"/>
              </a:rPr>
              <a:t>- Create a cell component based on the previous, where the arms have thermal tuners on top of each one</a:t>
            </a:r>
          </a:p>
          <a:p>
            <a:pPr algn="just"/>
            <a:r>
              <a:rPr lang="en-US" sz="12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a:p>
            <a:pPr algn="just"/>
            <a:r>
              <a:rPr lang="en-US" sz="1200" dirty="0">
                <a:latin typeface="Arial" panose="020B0604020202020204" pitchFamily="34" charset="0"/>
                <a:cs typeface="Arial" panose="020B0604020202020204" pitchFamily="34" charset="0"/>
              </a:rPr>
              <a:t>- Create a cell component based on the previous, where the ring has a thermal tuner on top along all the perimeter</a:t>
            </a:r>
          </a:p>
          <a:p>
            <a:pPr algn="just"/>
            <a:r>
              <a:rPr lang="en-US" sz="1200" dirty="0">
                <a:latin typeface="Arial" panose="020B0604020202020204" pitchFamily="34" charset="0"/>
                <a:cs typeface="Arial" panose="020B0604020202020204" pitchFamily="34" charset="0"/>
              </a:rPr>
              <a:t>- Create a cell component based on existing </a:t>
            </a:r>
            <a:r>
              <a:rPr lang="en-US" sz="1200" dirty="0" err="1">
                <a:latin typeface="Arial" panose="020B0604020202020204" pitchFamily="34" charset="0"/>
                <a:cs typeface="Arial" panose="020B0604020202020204" pitchFamily="34" charset="0"/>
              </a:rPr>
              <a:t>GDSfactory</a:t>
            </a:r>
            <a:r>
              <a:rPr lang="en-US" sz="1200" dirty="0">
                <a:latin typeface="Arial" panose="020B0604020202020204" pitchFamily="34" charset="0"/>
                <a:cs typeface="Arial" panose="020B0604020202020204" pitchFamily="34" charset="0"/>
              </a:rPr>
              <a:t> spiral components, with length as parameter</a:t>
            </a: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B7F15AC0-F440-2DF1-6C9D-0A7E2EAFC2C8}"/>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452515D-9AC0-62DB-2A62-0C197A32C5E7}"/>
              </a:ext>
            </a:extLst>
          </p:cNvPr>
          <p:cNvSpPr txBox="1"/>
          <p:nvPr/>
        </p:nvSpPr>
        <p:spPr>
          <a:xfrm>
            <a:off x="8180318" y="3105834"/>
            <a:ext cx="1774973" cy="369332"/>
          </a:xfrm>
          <a:prstGeom prst="rect">
            <a:avLst/>
          </a:prstGeom>
          <a:noFill/>
        </p:spPr>
        <p:txBody>
          <a:bodyPr wrap="none" rtlCol="0">
            <a:spAutoFit/>
          </a:bodyPr>
          <a:lstStyle/>
          <a:p>
            <a:pPr algn="ctr"/>
            <a:r>
              <a:rPr lang="es-ES" err="1"/>
              <a:t>Screenshot</a:t>
            </a:r>
            <a:r>
              <a:rPr lang="es-ES"/>
              <a:t> </a:t>
            </a:r>
            <a:r>
              <a:rPr lang="es-ES" err="1"/>
              <a:t>for</a:t>
            </a:r>
            <a:r>
              <a:rPr lang="es-ES"/>
              <a:t> …</a:t>
            </a:r>
            <a:endParaRPr lang="en-US"/>
          </a:p>
        </p:txBody>
      </p:sp>
      <p:pic>
        <p:nvPicPr>
          <p:cNvPr id="6" name="Imagen 5">
            <a:extLst>
              <a:ext uri="{FF2B5EF4-FFF2-40B4-BE49-F238E27FC236}">
                <a16:creationId xmlns:a16="http://schemas.microsoft.com/office/drawing/2014/main" id="{0D59585F-2E9C-D0B9-50FC-10396D1749CA}"/>
              </a:ext>
            </a:extLst>
          </p:cNvPr>
          <p:cNvPicPr>
            <a:picLocks noChangeAspect="1"/>
          </p:cNvPicPr>
          <p:nvPr/>
        </p:nvPicPr>
        <p:blipFill>
          <a:blip r:embed="rId4"/>
          <a:stretch>
            <a:fillRect/>
          </a:stretch>
        </p:blipFill>
        <p:spPr>
          <a:xfrm>
            <a:off x="775607" y="3475166"/>
            <a:ext cx="5230586" cy="2171803"/>
          </a:xfrm>
          <a:prstGeom prst="rect">
            <a:avLst/>
          </a:prstGeom>
        </p:spPr>
      </p:pic>
      <p:pic>
        <p:nvPicPr>
          <p:cNvPr id="12" name="Imagen 11">
            <a:extLst>
              <a:ext uri="{FF2B5EF4-FFF2-40B4-BE49-F238E27FC236}">
                <a16:creationId xmlns:a16="http://schemas.microsoft.com/office/drawing/2014/main" id="{1369DD33-189E-40B1-E41D-C82C770D857D}"/>
              </a:ext>
            </a:extLst>
          </p:cNvPr>
          <p:cNvPicPr>
            <a:picLocks noChangeAspect="1"/>
          </p:cNvPicPr>
          <p:nvPr/>
        </p:nvPicPr>
        <p:blipFill>
          <a:blip r:embed="rId5"/>
          <a:stretch>
            <a:fillRect/>
          </a:stretch>
        </p:blipFill>
        <p:spPr>
          <a:xfrm>
            <a:off x="6248400" y="1431373"/>
            <a:ext cx="5414724" cy="4087586"/>
          </a:xfrm>
          <a:prstGeom prst="rect">
            <a:avLst/>
          </a:prstGeom>
        </p:spPr>
      </p:pic>
    </p:spTree>
    <p:extLst>
      <p:ext uri="{BB962C8B-B14F-4D97-AF65-F5344CB8AC3E}">
        <p14:creationId xmlns:p14="http://schemas.microsoft.com/office/powerpoint/2010/main" val="708738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2F69C-8CFA-DC7E-1A09-429BFE8C5B1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E40B405-656B-D32D-56A1-2D52FCADD2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#4 – Notebook section 4. Exercises – 1 slide per bullet point</a:t>
            </a:r>
            <a:endParaRPr sz="2500" b="0" i="1">
              <a:latin typeface="+mj-lt"/>
              <a:cs typeface="Lucida Sans"/>
            </a:endParaRPr>
          </a:p>
        </p:txBody>
      </p:sp>
      <p:pic>
        <p:nvPicPr>
          <p:cNvPr id="83" name="Gráfico 82">
            <a:extLst>
              <a:ext uri="{FF2B5EF4-FFF2-40B4-BE49-F238E27FC236}">
                <a16:creationId xmlns:a16="http://schemas.microsoft.com/office/drawing/2014/main" id="{EBDF80A9-9C80-F2A3-E327-15AAB29D8D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52E1CD3-D8ED-54DE-D673-A5C18DEF2247}"/>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7A12C70E-3DCB-5175-0AE4-FC6EAE6D1C57}"/>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7AF3F6D3-6910-660D-B3F5-44C6E9716846}"/>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r>
              <a:rPr lang="en-US" sz="1200" b="1" dirty="0">
                <a:latin typeface="Arial" panose="020B0604020202020204" pitchFamily="34" charset="0"/>
                <a:cs typeface="Arial" panose="020B0604020202020204" pitchFamily="34" charset="0"/>
              </a:rPr>
              <a:t>Part a) Creating components</a:t>
            </a:r>
          </a:p>
          <a:p>
            <a:pPr algn="just"/>
            <a:r>
              <a:rPr lang="en-US" sz="1200" dirty="0">
                <a:latin typeface="Arial" panose="020B0604020202020204" pitchFamily="34" charset="0"/>
                <a:cs typeface="Arial" panose="020B0604020202020204" pitchFamily="34" charset="0"/>
              </a:rPr>
              <a:t>- Create a cell component for a unbalanced MZI, using 2x2 50:50 MMIs with arm length difference as parameter</a:t>
            </a:r>
          </a:p>
          <a:p>
            <a:pPr algn="just"/>
            <a:r>
              <a:rPr lang="en-US" sz="1200" dirty="0">
                <a:latin typeface="Arial" panose="020B0604020202020204" pitchFamily="34" charset="0"/>
                <a:cs typeface="Arial" panose="020B0604020202020204" pitchFamily="34" charset="0"/>
              </a:rPr>
              <a:t>- Create a cell component based on the previous, where the arms have thermal tuners on top of each one</a:t>
            </a:r>
          </a:p>
          <a:p>
            <a:pPr algn="just"/>
            <a:r>
              <a:rPr lang="en-US" sz="12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a:p>
            <a:pPr algn="just"/>
            <a:r>
              <a:rPr lang="en-US" sz="1200" dirty="0">
                <a:latin typeface="Arial" panose="020B0604020202020204" pitchFamily="34" charset="0"/>
                <a:cs typeface="Arial" panose="020B0604020202020204" pitchFamily="34" charset="0"/>
              </a:rPr>
              <a:t>- Create a cell component based on the previous, where the ring has a thermal tuner on top along all the perimeter</a:t>
            </a:r>
          </a:p>
          <a:p>
            <a:pPr algn="just"/>
            <a:r>
              <a:rPr lang="en-US" sz="1200" dirty="0">
                <a:latin typeface="Arial" panose="020B0604020202020204" pitchFamily="34" charset="0"/>
                <a:cs typeface="Arial" panose="020B0604020202020204" pitchFamily="34" charset="0"/>
              </a:rPr>
              <a:t>- Create a cell component based on existing </a:t>
            </a:r>
            <a:r>
              <a:rPr lang="en-US" sz="1200" dirty="0" err="1">
                <a:latin typeface="Arial" panose="020B0604020202020204" pitchFamily="34" charset="0"/>
                <a:cs typeface="Arial" panose="020B0604020202020204" pitchFamily="34" charset="0"/>
              </a:rPr>
              <a:t>GDSfactory</a:t>
            </a:r>
            <a:r>
              <a:rPr lang="en-US" sz="1200" dirty="0">
                <a:latin typeface="Arial" panose="020B0604020202020204" pitchFamily="34" charset="0"/>
                <a:cs typeface="Arial" panose="020B0604020202020204" pitchFamily="34" charset="0"/>
              </a:rPr>
              <a:t> spiral components, with length as parameter</a:t>
            </a: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39109272-1398-DC6C-318E-8C1FC44CD20B}"/>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FB5EC2DB-F181-BCAC-5DE3-FA2330BD3D8C}"/>
              </a:ext>
            </a:extLst>
          </p:cNvPr>
          <p:cNvSpPr txBox="1"/>
          <p:nvPr/>
        </p:nvSpPr>
        <p:spPr>
          <a:xfrm>
            <a:off x="8180318" y="3105834"/>
            <a:ext cx="1774973" cy="369332"/>
          </a:xfrm>
          <a:prstGeom prst="rect">
            <a:avLst/>
          </a:prstGeom>
          <a:noFill/>
        </p:spPr>
        <p:txBody>
          <a:bodyPr wrap="none" rtlCol="0">
            <a:spAutoFit/>
          </a:bodyPr>
          <a:lstStyle/>
          <a:p>
            <a:pPr algn="ctr"/>
            <a:r>
              <a:rPr lang="es-ES" err="1"/>
              <a:t>Screenshot</a:t>
            </a:r>
            <a:r>
              <a:rPr lang="es-ES"/>
              <a:t> </a:t>
            </a:r>
            <a:r>
              <a:rPr lang="es-ES" err="1"/>
              <a:t>for</a:t>
            </a:r>
            <a:r>
              <a:rPr lang="es-ES"/>
              <a:t> …</a:t>
            </a:r>
            <a:endParaRPr lang="en-US"/>
          </a:p>
        </p:txBody>
      </p:sp>
      <p:pic>
        <p:nvPicPr>
          <p:cNvPr id="10" name="Imagen 9">
            <a:extLst>
              <a:ext uri="{FF2B5EF4-FFF2-40B4-BE49-F238E27FC236}">
                <a16:creationId xmlns:a16="http://schemas.microsoft.com/office/drawing/2014/main" id="{C4E005D9-9308-A988-5350-CD78605F9269}"/>
              </a:ext>
            </a:extLst>
          </p:cNvPr>
          <p:cNvPicPr>
            <a:picLocks noChangeAspect="1"/>
          </p:cNvPicPr>
          <p:nvPr/>
        </p:nvPicPr>
        <p:blipFill>
          <a:blip r:embed="rId4"/>
          <a:stretch>
            <a:fillRect/>
          </a:stretch>
        </p:blipFill>
        <p:spPr>
          <a:xfrm>
            <a:off x="6248400" y="1383774"/>
            <a:ext cx="5540829" cy="4182783"/>
          </a:xfrm>
          <a:prstGeom prst="rect">
            <a:avLst/>
          </a:prstGeom>
        </p:spPr>
      </p:pic>
      <p:pic>
        <p:nvPicPr>
          <p:cNvPr id="13" name="Imagen 12">
            <a:extLst>
              <a:ext uri="{FF2B5EF4-FFF2-40B4-BE49-F238E27FC236}">
                <a16:creationId xmlns:a16="http://schemas.microsoft.com/office/drawing/2014/main" id="{CE7CD376-73B6-1E21-892B-2C4ABD51ADCF}"/>
              </a:ext>
            </a:extLst>
          </p:cNvPr>
          <p:cNvPicPr>
            <a:picLocks noChangeAspect="1"/>
          </p:cNvPicPr>
          <p:nvPr/>
        </p:nvPicPr>
        <p:blipFill>
          <a:blip r:embed="rId5"/>
          <a:stretch>
            <a:fillRect/>
          </a:stretch>
        </p:blipFill>
        <p:spPr>
          <a:xfrm>
            <a:off x="787248" y="3475165"/>
            <a:ext cx="5207304" cy="2569029"/>
          </a:xfrm>
          <a:prstGeom prst="rect">
            <a:avLst/>
          </a:prstGeom>
        </p:spPr>
      </p:pic>
    </p:spTree>
    <p:extLst>
      <p:ext uri="{BB962C8B-B14F-4D97-AF65-F5344CB8AC3E}">
        <p14:creationId xmlns:p14="http://schemas.microsoft.com/office/powerpoint/2010/main" val="1060102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162A1-25A0-FE68-42FB-D6EAC4BB8E3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5478F54-D6AF-D698-07B2-83D4E928F709}"/>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#4 – Notebook section 4. Exercises – 1 slide per bullet point</a:t>
            </a:r>
            <a:endParaRPr sz="2500" b="0" i="1">
              <a:latin typeface="+mj-lt"/>
              <a:cs typeface="Lucida Sans"/>
            </a:endParaRPr>
          </a:p>
        </p:txBody>
      </p:sp>
      <p:pic>
        <p:nvPicPr>
          <p:cNvPr id="83" name="Gráfico 82">
            <a:extLst>
              <a:ext uri="{FF2B5EF4-FFF2-40B4-BE49-F238E27FC236}">
                <a16:creationId xmlns:a16="http://schemas.microsoft.com/office/drawing/2014/main" id="{421AB4B2-E8C4-8468-A1B2-BFA87E359B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AECFB96-EEFE-F35A-1F45-5624EA3FB341}"/>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765DB8F0-BB2F-6E9E-F4D2-B374A2FAD2DD}"/>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AD9CA995-BFBB-63E0-3194-D70DAF97EA7A}"/>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r>
              <a:rPr lang="en-US" sz="1200" b="1" dirty="0">
                <a:latin typeface="Arial" panose="020B0604020202020204" pitchFamily="34" charset="0"/>
                <a:cs typeface="Arial" panose="020B0604020202020204" pitchFamily="34" charset="0"/>
              </a:rPr>
              <a:t>Part a) Creating components</a:t>
            </a:r>
          </a:p>
          <a:p>
            <a:pPr algn="just"/>
            <a:r>
              <a:rPr lang="en-US" sz="1200" dirty="0">
                <a:latin typeface="Arial" panose="020B0604020202020204" pitchFamily="34" charset="0"/>
                <a:cs typeface="Arial" panose="020B0604020202020204" pitchFamily="34" charset="0"/>
              </a:rPr>
              <a:t>- Create a cell component for a unbalanced MZI, using 2x2 50:50 MMIs with arm length difference as parameter</a:t>
            </a:r>
          </a:p>
          <a:p>
            <a:pPr algn="just"/>
            <a:r>
              <a:rPr lang="en-US" sz="1200" dirty="0">
                <a:latin typeface="Arial" panose="020B0604020202020204" pitchFamily="34" charset="0"/>
                <a:cs typeface="Arial" panose="020B0604020202020204" pitchFamily="34" charset="0"/>
              </a:rPr>
              <a:t>- Create a cell component based on the previous, where the arms have thermal tuners on top of each one</a:t>
            </a:r>
          </a:p>
          <a:p>
            <a:pPr algn="just"/>
            <a:r>
              <a:rPr lang="en-US" sz="12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a:p>
            <a:pPr algn="just"/>
            <a:r>
              <a:rPr lang="en-US" sz="1200" dirty="0">
                <a:latin typeface="Arial" panose="020B0604020202020204" pitchFamily="34" charset="0"/>
                <a:cs typeface="Arial" panose="020B0604020202020204" pitchFamily="34" charset="0"/>
              </a:rPr>
              <a:t>- Create a cell component based on the previous, where the ring has a thermal tuner on top along all the perimeter</a:t>
            </a:r>
          </a:p>
          <a:p>
            <a:pPr algn="just"/>
            <a:r>
              <a:rPr lang="en-US" sz="1200" dirty="0">
                <a:latin typeface="Arial" panose="020B0604020202020204" pitchFamily="34" charset="0"/>
                <a:cs typeface="Arial" panose="020B0604020202020204" pitchFamily="34" charset="0"/>
              </a:rPr>
              <a:t>- Create a cell component based on existing </a:t>
            </a:r>
            <a:r>
              <a:rPr lang="en-US" sz="1200" dirty="0" err="1">
                <a:latin typeface="Arial" panose="020B0604020202020204" pitchFamily="34" charset="0"/>
                <a:cs typeface="Arial" panose="020B0604020202020204" pitchFamily="34" charset="0"/>
              </a:rPr>
              <a:t>GDSfactory</a:t>
            </a:r>
            <a:r>
              <a:rPr lang="en-US" sz="1200" dirty="0">
                <a:latin typeface="Arial" panose="020B0604020202020204" pitchFamily="34" charset="0"/>
                <a:cs typeface="Arial" panose="020B0604020202020204" pitchFamily="34" charset="0"/>
              </a:rPr>
              <a:t> spiral components, with length as parameter</a:t>
            </a: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0E257A50-2F6B-60BA-8A56-D2ADEA828AA3}"/>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DAB6CD8B-6B87-0FDE-F064-8B684BA4EF81}"/>
              </a:ext>
            </a:extLst>
          </p:cNvPr>
          <p:cNvSpPr txBox="1"/>
          <p:nvPr/>
        </p:nvSpPr>
        <p:spPr>
          <a:xfrm>
            <a:off x="8180318" y="3105834"/>
            <a:ext cx="1774973" cy="369332"/>
          </a:xfrm>
          <a:prstGeom prst="rect">
            <a:avLst/>
          </a:prstGeom>
          <a:noFill/>
        </p:spPr>
        <p:txBody>
          <a:bodyPr wrap="none" rtlCol="0">
            <a:spAutoFit/>
          </a:bodyPr>
          <a:lstStyle/>
          <a:p>
            <a:pPr algn="ctr"/>
            <a:r>
              <a:rPr lang="es-ES" err="1"/>
              <a:t>Screenshot</a:t>
            </a:r>
            <a:r>
              <a:rPr lang="es-ES"/>
              <a:t> </a:t>
            </a:r>
            <a:r>
              <a:rPr lang="es-ES" err="1"/>
              <a:t>for</a:t>
            </a:r>
            <a:r>
              <a:rPr lang="es-ES"/>
              <a:t> …</a:t>
            </a:r>
            <a:endParaRPr lang="en-US"/>
          </a:p>
        </p:txBody>
      </p:sp>
      <p:pic>
        <p:nvPicPr>
          <p:cNvPr id="5" name="Imagen 4">
            <a:extLst>
              <a:ext uri="{FF2B5EF4-FFF2-40B4-BE49-F238E27FC236}">
                <a16:creationId xmlns:a16="http://schemas.microsoft.com/office/drawing/2014/main" id="{2CC3CAFD-435C-3FD4-1CAF-0B8195487879}"/>
              </a:ext>
            </a:extLst>
          </p:cNvPr>
          <p:cNvPicPr>
            <a:picLocks noChangeAspect="1"/>
          </p:cNvPicPr>
          <p:nvPr/>
        </p:nvPicPr>
        <p:blipFill>
          <a:blip r:embed="rId4"/>
          <a:stretch>
            <a:fillRect/>
          </a:stretch>
        </p:blipFill>
        <p:spPr>
          <a:xfrm>
            <a:off x="763882" y="3475166"/>
            <a:ext cx="5254035" cy="2109205"/>
          </a:xfrm>
          <a:prstGeom prst="rect">
            <a:avLst/>
          </a:prstGeom>
        </p:spPr>
      </p:pic>
      <p:pic>
        <p:nvPicPr>
          <p:cNvPr id="10" name="Imagen 9">
            <a:extLst>
              <a:ext uri="{FF2B5EF4-FFF2-40B4-BE49-F238E27FC236}">
                <a16:creationId xmlns:a16="http://schemas.microsoft.com/office/drawing/2014/main" id="{768F6421-581C-A442-1A2B-00029E314193}"/>
              </a:ext>
            </a:extLst>
          </p:cNvPr>
          <p:cNvPicPr>
            <a:picLocks noChangeAspect="1"/>
          </p:cNvPicPr>
          <p:nvPr/>
        </p:nvPicPr>
        <p:blipFill>
          <a:blip r:embed="rId5"/>
          <a:stretch>
            <a:fillRect/>
          </a:stretch>
        </p:blipFill>
        <p:spPr>
          <a:xfrm>
            <a:off x="6248400" y="1539157"/>
            <a:ext cx="5524500" cy="4170456"/>
          </a:xfrm>
          <a:prstGeom prst="rect">
            <a:avLst/>
          </a:prstGeom>
        </p:spPr>
      </p:pic>
    </p:spTree>
    <p:extLst>
      <p:ext uri="{BB962C8B-B14F-4D97-AF65-F5344CB8AC3E}">
        <p14:creationId xmlns:p14="http://schemas.microsoft.com/office/powerpoint/2010/main" val="38287868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BE617-11C7-498C-32D4-DF4005EE7C1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F63D39A-EC50-4F11-F4F7-4F92B0DA4999}"/>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#4 – Notebook section 4. Exercises – 1 slide per bullet point</a:t>
            </a:r>
            <a:endParaRPr sz="2500" b="0" i="1">
              <a:latin typeface="+mj-lt"/>
              <a:cs typeface="Lucida Sans"/>
            </a:endParaRPr>
          </a:p>
        </p:txBody>
      </p:sp>
      <p:pic>
        <p:nvPicPr>
          <p:cNvPr id="83" name="Gráfico 82">
            <a:extLst>
              <a:ext uri="{FF2B5EF4-FFF2-40B4-BE49-F238E27FC236}">
                <a16:creationId xmlns:a16="http://schemas.microsoft.com/office/drawing/2014/main" id="{F5C26D10-286E-9677-F93F-165DD5D4C1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58710A0-6A9A-7808-ED9A-A0857EFCA143}"/>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B307E0D1-827E-B5BD-0ACF-FA1FEACC5AAC}"/>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99BAD193-F574-DA47-6A6D-3F36DBF005EB}"/>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r>
              <a:rPr lang="en-US" sz="1200" b="1" dirty="0">
                <a:latin typeface="Arial" panose="020B0604020202020204" pitchFamily="34" charset="0"/>
                <a:cs typeface="Arial" panose="020B0604020202020204" pitchFamily="34" charset="0"/>
              </a:rPr>
              <a:t>Part a) Creating components</a:t>
            </a:r>
          </a:p>
          <a:p>
            <a:pPr algn="just"/>
            <a:r>
              <a:rPr lang="en-US" sz="1200" dirty="0">
                <a:latin typeface="Arial" panose="020B0604020202020204" pitchFamily="34" charset="0"/>
                <a:cs typeface="Arial" panose="020B0604020202020204" pitchFamily="34" charset="0"/>
              </a:rPr>
              <a:t>- Create a cell component for a unbalanced MZI, using 2x2 50:50 MMIs with arm length difference as parameter</a:t>
            </a:r>
          </a:p>
          <a:p>
            <a:pPr algn="just"/>
            <a:r>
              <a:rPr lang="en-US" sz="1200" dirty="0">
                <a:latin typeface="Arial" panose="020B0604020202020204" pitchFamily="34" charset="0"/>
                <a:cs typeface="Arial" panose="020B0604020202020204" pitchFamily="34" charset="0"/>
              </a:rPr>
              <a:t>- Create a cell component based on the previous, where the arms have thermal tuners on top of each one</a:t>
            </a:r>
          </a:p>
          <a:p>
            <a:pPr algn="just"/>
            <a:r>
              <a:rPr lang="en-US" sz="12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a:p>
            <a:pPr algn="just"/>
            <a:r>
              <a:rPr lang="en-US" sz="1200" dirty="0">
                <a:latin typeface="Arial" panose="020B0604020202020204" pitchFamily="34" charset="0"/>
                <a:cs typeface="Arial" panose="020B0604020202020204" pitchFamily="34" charset="0"/>
              </a:rPr>
              <a:t>- Create a cell component based on the previous, where the ring has a thermal tuner on top along all the perimeter</a:t>
            </a:r>
          </a:p>
          <a:p>
            <a:pPr algn="just"/>
            <a:r>
              <a:rPr lang="en-US" sz="1200" dirty="0">
                <a:latin typeface="Arial" panose="020B0604020202020204" pitchFamily="34" charset="0"/>
                <a:cs typeface="Arial" panose="020B0604020202020204" pitchFamily="34" charset="0"/>
              </a:rPr>
              <a:t>- Create a cell component based on existing </a:t>
            </a:r>
            <a:r>
              <a:rPr lang="en-US" sz="1200" dirty="0" err="1">
                <a:latin typeface="Arial" panose="020B0604020202020204" pitchFamily="34" charset="0"/>
                <a:cs typeface="Arial" panose="020B0604020202020204" pitchFamily="34" charset="0"/>
              </a:rPr>
              <a:t>GDSfactory</a:t>
            </a:r>
            <a:r>
              <a:rPr lang="en-US" sz="1200" dirty="0">
                <a:latin typeface="Arial" panose="020B0604020202020204" pitchFamily="34" charset="0"/>
                <a:cs typeface="Arial" panose="020B0604020202020204" pitchFamily="34" charset="0"/>
              </a:rPr>
              <a:t> spiral components, with length as parameter</a:t>
            </a: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EC2F4809-DC86-D684-FC46-6E2AA32C40F3}"/>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EEC9AAD7-4142-81F5-48BA-120B40686E63}"/>
              </a:ext>
            </a:extLst>
          </p:cNvPr>
          <p:cNvSpPr txBox="1"/>
          <p:nvPr/>
        </p:nvSpPr>
        <p:spPr>
          <a:xfrm>
            <a:off x="8180318" y="3105834"/>
            <a:ext cx="1774973" cy="369332"/>
          </a:xfrm>
          <a:prstGeom prst="rect">
            <a:avLst/>
          </a:prstGeom>
          <a:noFill/>
        </p:spPr>
        <p:txBody>
          <a:bodyPr wrap="none" rtlCol="0">
            <a:spAutoFit/>
          </a:bodyPr>
          <a:lstStyle/>
          <a:p>
            <a:pPr algn="ctr"/>
            <a:r>
              <a:rPr lang="es-ES" err="1"/>
              <a:t>Screenshot</a:t>
            </a:r>
            <a:r>
              <a:rPr lang="es-ES"/>
              <a:t> </a:t>
            </a:r>
            <a:r>
              <a:rPr lang="es-ES" err="1"/>
              <a:t>for</a:t>
            </a:r>
            <a:r>
              <a:rPr lang="es-ES"/>
              <a:t> …</a:t>
            </a:r>
            <a:endParaRPr lang="en-US"/>
          </a:p>
        </p:txBody>
      </p:sp>
      <p:pic>
        <p:nvPicPr>
          <p:cNvPr id="5" name="Imagen 4">
            <a:extLst>
              <a:ext uri="{FF2B5EF4-FFF2-40B4-BE49-F238E27FC236}">
                <a16:creationId xmlns:a16="http://schemas.microsoft.com/office/drawing/2014/main" id="{911AA644-5A29-2B59-78AA-B9E21AFDE9AF}"/>
              </a:ext>
            </a:extLst>
          </p:cNvPr>
          <p:cNvPicPr>
            <a:picLocks noChangeAspect="1"/>
          </p:cNvPicPr>
          <p:nvPr/>
        </p:nvPicPr>
        <p:blipFill>
          <a:blip r:embed="rId4"/>
          <a:stretch>
            <a:fillRect/>
          </a:stretch>
        </p:blipFill>
        <p:spPr>
          <a:xfrm>
            <a:off x="785538" y="3581085"/>
            <a:ext cx="5210723" cy="1959429"/>
          </a:xfrm>
          <a:prstGeom prst="rect">
            <a:avLst/>
          </a:prstGeom>
        </p:spPr>
      </p:pic>
      <p:pic>
        <p:nvPicPr>
          <p:cNvPr id="10" name="Imagen 9">
            <a:extLst>
              <a:ext uri="{FF2B5EF4-FFF2-40B4-BE49-F238E27FC236}">
                <a16:creationId xmlns:a16="http://schemas.microsoft.com/office/drawing/2014/main" id="{8F7323CD-F2BC-D7E6-6076-61873BA76DE6}"/>
              </a:ext>
            </a:extLst>
          </p:cNvPr>
          <p:cNvPicPr>
            <a:picLocks noChangeAspect="1"/>
          </p:cNvPicPr>
          <p:nvPr/>
        </p:nvPicPr>
        <p:blipFill>
          <a:blip r:embed="rId5"/>
          <a:stretch>
            <a:fillRect/>
          </a:stretch>
        </p:blipFill>
        <p:spPr>
          <a:xfrm>
            <a:off x="6308270" y="1519840"/>
            <a:ext cx="5519057" cy="4166347"/>
          </a:xfrm>
          <a:prstGeom prst="rect">
            <a:avLst/>
          </a:prstGeom>
        </p:spPr>
      </p:pic>
    </p:spTree>
    <p:extLst>
      <p:ext uri="{BB962C8B-B14F-4D97-AF65-F5344CB8AC3E}">
        <p14:creationId xmlns:p14="http://schemas.microsoft.com/office/powerpoint/2010/main" val="1136310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7F022-8FEB-E581-B0FA-8EFA0E13036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2DB63CB-BF26-D9FF-EC25-001A28E61F65}"/>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#4 – Notebook section 4. Exercises – 1 slide per bullet point</a:t>
            </a:r>
            <a:endParaRPr sz="2500" b="0" i="1">
              <a:latin typeface="+mj-lt"/>
              <a:cs typeface="Lucida Sans"/>
            </a:endParaRPr>
          </a:p>
        </p:txBody>
      </p:sp>
      <p:pic>
        <p:nvPicPr>
          <p:cNvPr id="83" name="Gráfico 82">
            <a:extLst>
              <a:ext uri="{FF2B5EF4-FFF2-40B4-BE49-F238E27FC236}">
                <a16:creationId xmlns:a16="http://schemas.microsoft.com/office/drawing/2014/main" id="{7C6EADA9-41C9-1BD6-1B8F-C7997DB2CA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F7FB36A-DD29-697E-BBF9-A4F15F755BDF}"/>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0270B74C-4AFD-486E-C9C8-4EE9FD26481F}"/>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0A97BB81-4F2A-9D46-950A-C792827DF9AC}"/>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r>
              <a:rPr lang="en-US" sz="1200" b="1" dirty="0">
                <a:latin typeface="Arial" panose="020B0604020202020204" pitchFamily="34" charset="0"/>
                <a:cs typeface="Arial" panose="020B0604020202020204" pitchFamily="34" charset="0"/>
              </a:rPr>
              <a:t>Part a) Creating components</a:t>
            </a:r>
          </a:p>
          <a:p>
            <a:pPr algn="just"/>
            <a:r>
              <a:rPr lang="en-US" sz="1200" dirty="0">
                <a:latin typeface="Arial" panose="020B0604020202020204" pitchFamily="34" charset="0"/>
                <a:cs typeface="Arial" panose="020B0604020202020204" pitchFamily="34" charset="0"/>
              </a:rPr>
              <a:t>- Create a cell component for a unbalanced MZI, using 2x2 50:50 MMIs with arm length difference as parameter</a:t>
            </a:r>
          </a:p>
          <a:p>
            <a:pPr algn="just"/>
            <a:r>
              <a:rPr lang="en-US" sz="1200" dirty="0">
                <a:latin typeface="Arial" panose="020B0604020202020204" pitchFamily="34" charset="0"/>
                <a:cs typeface="Arial" panose="020B0604020202020204" pitchFamily="34" charset="0"/>
              </a:rPr>
              <a:t>- Create a cell component based on the previous, where the arms have thermal tuners on top of each one</a:t>
            </a:r>
          </a:p>
          <a:p>
            <a:pPr algn="just"/>
            <a:r>
              <a:rPr lang="en-US" sz="12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a:p>
            <a:pPr algn="just"/>
            <a:r>
              <a:rPr lang="en-US" sz="1200" dirty="0">
                <a:latin typeface="Arial" panose="020B0604020202020204" pitchFamily="34" charset="0"/>
                <a:cs typeface="Arial" panose="020B0604020202020204" pitchFamily="34" charset="0"/>
              </a:rPr>
              <a:t>- Create a cell component based on the previous, where the ring has a thermal tuner on top along all the perimeter</a:t>
            </a:r>
          </a:p>
          <a:p>
            <a:pPr algn="just"/>
            <a:r>
              <a:rPr lang="en-US" sz="1200" dirty="0">
                <a:latin typeface="Arial" panose="020B0604020202020204" pitchFamily="34" charset="0"/>
                <a:cs typeface="Arial" panose="020B0604020202020204" pitchFamily="34" charset="0"/>
              </a:rPr>
              <a:t>- Create a cell component based on existing </a:t>
            </a:r>
            <a:r>
              <a:rPr lang="en-US" sz="1200" dirty="0" err="1">
                <a:latin typeface="Arial" panose="020B0604020202020204" pitchFamily="34" charset="0"/>
                <a:cs typeface="Arial" panose="020B0604020202020204" pitchFamily="34" charset="0"/>
              </a:rPr>
              <a:t>GDSfactory</a:t>
            </a:r>
            <a:r>
              <a:rPr lang="en-US" sz="1200" dirty="0">
                <a:latin typeface="Arial" panose="020B0604020202020204" pitchFamily="34" charset="0"/>
                <a:cs typeface="Arial" panose="020B0604020202020204" pitchFamily="34" charset="0"/>
              </a:rPr>
              <a:t> spiral components, with length as parameter</a:t>
            </a: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269178D3-A2EB-40DD-80BE-C1691459091A}"/>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2D55884-E500-59EE-DA47-DB09CED2CF8C}"/>
              </a:ext>
            </a:extLst>
          </p:cNvPr>
          <p:cNvSpPr txBox="1"/>
          <p:nvPr/>
        </p:nvSpPr>
        <p:spPr>
          <a:xfrm>
            <a:off x="8180318" y="3105834"/>
            <a:ext cx="1774973" cy="369332"/>
          </a:xfrm>
          <a:prstGeom prst="rect">
            <a:avLst/>
          </a:prstGeom>
          <a:noFill/>
        </p:spPr>
        <p:txBody>
          <a:bodyPr wrap="none" rtlCol="0">
            <a:spAutoFit/>
          </a:bodyPr>
          <a:lstStyle/>
          <a:p>
            <a:pPr algn="ctr"/>
            <a:r>
              <a:rPr lang="es-ES" err="1"/>
              <a:t>Screenshot</a:t>
            </a:r>
            <a:r>
              <a:rPr lang="es-ES"/>
              <a:t> </a:t>
            </a:r>
            <a:r>
              <a:rPr lang="es-ES" err="1"/>
              <a:t>for</a:t>
            </a:r>
            <a:r>
              <a:rPr lang="es-ES"/>
              <a:t> …</a:t>
            </a:r>
            <a:endParaRPr lang="en-US"/>
          </a:p>
        </p:txBody>
      </p:sp>
      <p:pic>
        <p:nvPicPr>
          <p:cNvPr id="5" name="Imagen 4">
            <a:extLst>
              <a:ext uri="{FF2B5EF4-FFF2-40B4-BE49-F238E27FC236}">
                <a16:creationId xmlns:a16="http://schemas.microsoft.com/office/drawing/2014/main" id="{4ABC156C-3CDB-A27A-5FE5-83E7DDB37F4E}"/>
              </a:ext>
            </a:extLst>
          </p:cNvPr>
          <p:cNvPicPr>
            <a:picLocks noChangeAspect="1"/>
          </p:cNvPicPr>
          <p:nvPr/>
        </p:nvPicPr>
        <p:blipFill>
          <a:blip r:embed="rId4"/>
          <a:stretch>
            <a:fillRect/>
          </a:stretch>
        </p:blipFill>
        <p:spPr>
          <a:xfrm>
            <a:off x="802439" y="3475166"/>
            <a:ext cx="5100722" cy="2479320"/>
          </a:xfrm>
          <a:prstGeom prst="rect">
            <a:avLst/>
          </a:prstGeom>
        </p:spPr>
      </p:pic>
      <p:pic>
        <p:nvPicPr>
          <p:cNvPr id="10" name="Imagen 9">
            <a:extLst>
              <a:ext uri="{FF2B5EF4-FFF2-40B4-BE49-F238E27FC236}">
                <a16:creationId xmlns:a16="http://schemas.microsoft.com/office/drawing/2014/main" id="{2B5F2A8B-DE8F-41AE-8D33-F96D03DE2E47}"/>
              </a:ext>
            </a:extLst>
          </p:cNvPr>
          <p:cNvPicPr>
            <a:picLocks noChangeAspect="1"/>
          </p:cNvPicPr>
          <p:nvPr/>
        </p:nvPicPr>
        <p:blipFill>
          <a:blip r:embed="rId5"/>
          <a:stretch>
            <a:fillRect/>
          </a:stretch>
        </p:blipFill>
        <p:spPr>
          <a:xfrm>
            <a:off x="6367673" y="1436836"/>
            <a:ext cx="5400251" cy="4076660"/>
          </a:xfrm>
          <a:prstGeom prst="rect">
            <a:avLst/>
          </a:prstGeom>
        </p:spPr>
      </p:pic>
    </p:spTree>
    <p:extLst>
      <p:ext uri="{BB962C8B-B14F-4D97-AF65-F5344CB8AC3E}">
        <p14:creationId xmlns:p14="http://schemas.microsoft.com/office/powerpoint/2010/main" val="2278744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0C03A-0BA5-4B10-5DDA-011AC11EF56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DC388A8-F582-177C-14B1-08F2F5C7A7DB}"/>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#4 – Notebook section 4. Exercises – 1 slide per bullet point</a:t>
            </a:r>
            <a:endParaRPr sz="2500" b="0" i="1">
              <a:latin typeface="+mj-lt"/>
              <a:cs typeface="Lucida Sans"/>
            </a:endParaRPr>
          </a:p>
        </p:txBody>
      </p:sp>
      <p:pic>
        <p:nvPicPr>
          <p:cNvPr id="83" name="Gráfico 82">
            <a:extLst>
              <a:ext uri="{FF2B5EF4-FFF2-40B4-BE49-F238E27FC236}">
                <a16:creationId xmlns:a16="http://schemas.microsoft.com/office/drawing/2014/main" id="{80CE81D0-F719-4A76-7D7B-A1B73F04BB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AB3DF92-D0B7-8147-4863-EEC2022FD7A2}"/>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0D44E7FF-04D2-B6BF-A4ED-297119791A35}"/>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1780D565-BCF1-3FB8-349A-2A1B879D9984}"/>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b) Creating die</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22F5D99A-812D-130E-E089-45204EB6839D}"/>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04482982-A3AA-4972-2BE6-92FF2B22CC73}"/>
              </a:ext>
            </a:extLst>
          </p:cNvPr>
          <p:cNvSpPr txBox="1"/>
          <p:nvPr/>
        </p:nvSpPr>
        <p:spPr>
          <a:xfrm>
            <a:off x="8180318" y="3105834"/>
            <a:ext cx="1774973" cy="369332"/>
          </a:xfrm>
          <a:prstGeom prst="rect">
            <a:avLst/>
          </a:prstGeom>
          <a:noFill/>
        </p:spPr>
        <p:txBody>
          <a:bodyPr wrap="none" rtlCol="0">
            <a:spAutoFit/>
          </a:bodyPr>
          <a:lstStyle/>
          <a:p>
            <a:pPr algn="ctr"/>
            <a:r>
              <a:rPr lang="es-ES" err="1"/>
              <a:t>Screenshot</a:t>
            </a:r>
            <a:r>
              <a:rPr lang="es-ES"/>
              <a:t> </a:t>
            </a:r>
            <a:r>
              <a:rPr lang="es-ES" err="1"/>
              <a:t>for</a:t>
            </a:r>
            <a:r>
              <a:rPr lang="es-ES"/>
              <a:t> …</a:t>
            </a:r>
            <a:endParaRPr lang="en-US"/>
          </a:p>
        </p:txBody>
      </p:sp>
      <p:pic>
        <p:nvPicPr>
          <p:cNvPr id="6" name="Imagen 5">
            <a:extLst>
              <a:ext uri="{FF2B5EF4-FFF2-40B4-BE49-F238E27FC236}">
                <a16:creationId xmlns:a16="http://schemas.microsoft.com/office/drawing/2014/main" id="{59A35A16-27EF-1528-EC7E-825A134B2665}"/>
              </a:ext>
            </a:extLst>
          </p:cNvPr>
          <p:cNvPicPr>
            <a:picLocks noChangeAspect="1"/>
          </p:cNvPicPr>
          <p:nvPr/>
        </p:nvPicPr>
        <p:blipFill>
          <a:blip r:embed="rId4"/>
          <a:stretch>
            <a:fillRect/>
          </a:stretch>
        </p:blipFill>
        <p:spPr>
          <a:xfrm>
            <a:off x="6444181" y="1604898"/>
            <a:ext cx="5236029" cy="3952689"/>
          </a:xfrm>
          <a:prstGeom prst="rect">
            <a:avLst/>
          </a:prstGeom>
        </p:spPr>
      </p:pic>
      <p:pic>
        <p:nvPicPr>
          <p:cNvPr id="12" name="Imagen 11">
            <a:extLst>
              <a:ext uri="{FF2B5EF4-FFF2-40B4-BE49-F238E27FC236}">
                <a16:creationId xmlns:a16="http://schemas.microsoft.com/office/drawing/2014/main" id="{427A2AB3-EABE-DE24-3FBD-AED8DDCCF013}"/>
              </a:ext>
            </a:extLst>
          </p:cNvPr>
          <p:cNvPicPr>
            <a:picLocks noChangeAspect="1"/>
          </p:cNvPicPr>
          <p:nvPr/>
        </p:nvPicPr>
        <p:blipFill>
          <a:blip r:embed="rId5"/>
          <a:stretch>
            <a:fillRect/>
          </a:stretch>
        </p:blipFill>
        <p:spPr>
          <a:xfrm>
            <a:off x="745972" y="1604898"/>
            <a:ext cx="5295439" cy="4262502"/>
          </a:xfrm>
          <a:prstGeom prst="rect">
            <a:avLst/>
          </a:prstGeom>
        </p:spPr>
      </p:pic>
    </p:spTree>
    <p:extLst>
      <p:ext uri="{BB962C8B-B14F-4D97-AF65-F5344CB8AC3E}">
        <p14:creationId xmlns:p14="http://schemas.microsoft.com/office/powerpoint/2010/main" val="1911617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4A096-4DEB-0179-1E2D-0CA4DEA1818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B455797-FD19-B45C-0ACF-1AF80570667C}"/>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#4 – Notebook section 4. Exercises – 1 slide per bullet point</a:t>
            </a:r>
            <a:endParaRPr sz="2500" b="0" i="1">
              <a:latin typeface="+mj-lt"/>
              <a:cs typeface="Lucida Sans"/>
            </a:endParaRPr>
          </a:p>
        </p:txBody>
      </p:sp>
      <p:pic>
        <p:nvPicPr>
          <p:cNvPr id="83" name="Gráfico 82">
            <a:extLst>
              <a:ext uri="{FF2B5EF4-FFF2-40B4-BE49-F238E27FC236}">
                <a16:creationId xmlns:a16="http://schemas.microsoft.com/office/drawing/2014/main" id="{46731317-2C67-1461-838B-F30E3EDAF5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8E51512-8E00-D5F6-D387-99E34A7B7A87}"/>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3" name="Marcador de pie de página 2">
            <a:extLst>
              <a:ext uri="{FF2B5EF4-FFF2-40B4-BE49-F238E27FC236}">
                <a16:creationId xmlns:a16="http://schemas.microsoft.com/office/drawing/2014/main" id="{611D198B-D6DC-743D-7512-3B468B0A37E1}"/>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AAE27465-3CD1-6D4B-9020-00DF86645898}"/>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c) </a:t>
            </a:r>
            <a:r>
              <a:rPr lang="en-US" sz="1200" b="1" dirty="0" err="1">
                <a:latin typeface="Arial" panose="020B0604020202020204" pitchFamily="34" charset="0"/>
                <a:cs typeface="Arial" panose="020B0604020202020204" pitchFamily="34" charset="0"/>
              </a:rPr>
              <a:t>Floorplaning</a:t>
            </a:r>
            <a:r>
              <a:rPr lang="en-US" sz="1200" b="1" dirty="0">
                <a:latin typeface="Arial" panose="020B0604020202020204" pitchFamily="34" charset="0"/>
                <a:cs typeface="Arial" panose="020B0604020202020204" pitchFamily="34" charset="0"/>
              </a:rPr>
              <a:t> and die layout</a:t>
            </a:r>
          </a:p>
        </p:txBody>
      </p:sp>
      <p:sp>
        <p:nvSpPr>
          <p:cNvPr id="8" name="Rectángulo 7">
            <a:extLst>
              <a:ext uri="{FF2B5EF4-FFF2-40B4-BE49-F238E27FC236}">
                <a16:creationId xmlns:a16="http://schemas.microsoft.com/office/drawing/2014/main" id="{8EBE3309-1491-013F-7967-E09668D447BB}"/>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002BB8E-7790-2833-4571-044031A2C67F}"/>
              </a:ext>
            </a:extLst>
          </p:cNvPr>
          <p:cNvSpPr txBox="1"/>
          <p:nvPr/>
        </p:nvSpPr>
        <p:spPr>
          <a:xfrm>
            <a:off x="8180318" y="3105834"/>
            <a:ext cx="1774973" cy="369332"/>
          </a:xfrm>
          <a:prstGeom prst="rect">
            <a:avLst/>
          </a:prstGeom>
          <a:noFill/>
        </p:spPr>
        <p:txBody>
          <a:bodyPr wrap="none" rtlCol="0">
            <a:spAutoFit/>
          </a:bodyPr>
          <a:lstStyle/>
          <a:p>
            <a:pPr algn="ctr"/>
            <a:r>
              <a:rPr lang="es-ES" err="1"/>
              <a:t>Screenshot</a:t>
            </a:r>
            <a:r>
              <a:rPr lang="es-ES"/>
              <a:t> </a:t>
            </a:r>
            <a:r>
              <a:rPr lang="es-ES" err="1"/>
              <a:t>for</a:t>
            </a:r>
            <a:r>
              <a:rPr lang="es-ES"/>
              <a:t> …</a:t>
            </a:r>
            <a:endParaRPr lang="en-US"/>
          </a:p>
        </p:txBody>
      </p:sp>
      <p:pic>
        <p:nvPicPr>
          <p:cNvPr id="6" name="Imagen 5">
            <a:extLst>
              <a:ext uri="{FF2B5EF4-FFF2-40B4-BE49-F238E27FC236}">
                <a16:creationId xmlns:a16="http://schemas.microsoft.com/office/drawing/2014/main" id="{E15AADF2-BB74-D624-9B25-6A5CC168DA3C}"/>
              </a:ext>
            </a:extLst>
          </p:cNvPr>
          <p:cNvPicPr>
            <a:picLocks noChangeAspect="1"/>
          </p:cNvPicPr>
          <p:nvPr/>
        </p:nvPicPr>
        <p:blipFill>
          <a:blip r:embed="rId4"/>
          <a:stretch>
            <a:fillRect/>
          </a:stretch>
        </p:blipFill>
        <p:spPr>
          <a:xfrm>
            <a:off x="6248400" y="1520319"/>
            <a:ext cx="5588803" cy="4218999"/>
          </a:xfrm>
          <a:prstGeom prst="rect">
            <a:avLst/>
          </a:prstGeom>
        </p:spPr>
      </p:pic>
      <p:pic>
        <p:nvPicPr>
          <p:cNvPr id="12" name="Imagen 11">
            <a:extLst>
              <a:ext uri="{FF2B5EF4-FFF2-40B4-BE49-F238E27FC236}">
                <a16:creationId xmlns:a16="http://schemas.microsoft.com/office/drawing/2014/main" id="{A059A469-3131-C29F-30DA-907E5B6FEA20}"/>
              </a:ext>
            </a:extLst>
          </p:cNvPr>
          <p:cNvPicPr>
            <a:picLocks noChangeAspect="1"/>
          </p:cNvPicPr>
          <p:nvPr/>
        </p:nvPicPr>
        <p:blipFill>
          <a:blip r:embed="rId5"/>
          <a:stretch>
            <a:fillRect/>
          </a:stretch>
        </p:blipFill>
        <p:spPr>
          <a:xfrm>
            <a:off x="1344451" y="1377890"/>
            <a:ext cx="3459928" cy="2933569"/>
          </a:xfrm>
          <a:prstGeom prst="rect">
            <a:avLst/>
          </a:prstGeom>
        </p:spPr>
      </p:pic>
      <p:pic>
        <p:nvPicPr>
          <p:cNvPr id="14" name="Imagen 13">
            <a:extLst>
              <a:ext uri="{FF2B5EF4-FFF2-40B4-BE49-F238E27FC236}">
                <a16:creationId xmlns:a16="http://schemas.microsoft.com/office/drawing/2014/main" id="{C85FB912-50F9-AB3E-7D2A-2748F1B0FC23}"/>
              </a:ext>
            </a:extLst>
          </p:cNvPr>
          <p:cNvPicPr>
            <a:picLocks noChangeAspect="1"/>
          </p:cNvPicPr>
          <p:nvPr/>
        </p:nvPicPr>
        <p:blipFill>
          <a:blip r:embed="rId6"/>
          <a:stretch>
            <a:fillRect/>
          </a:stretch>
        </p:blipFill>
        <p:spPr>
          <a:xfrm>
            <a:off x="1344452" y="4311775"/>
            <a:ext cx="3459928" cy="1815606"/>
          </a:xfrm>
          <a:prstGeom prst="rect">
            <a:avLst/>
          </a:prstGeom>
        </p:spPr>
      </p:pic>
    </p:spTree>
    <p:extLst>
      <p:ext uri="{BB962C8B-B14F-4D97-AF65-F5344CB8AC3E}">
        <p14:creationId xmlns:p14="http://schemas.microsoft.com/office/powerpoint/2010/main" val="282267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24</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31</TotalTime>
  <Words>2871</Words>
  <Application>Microsoft Office PowerPoint</Application>
  <PresentationFormat>Panorámica</PresentationFormat>
  <Paragraphs>223</Paragraphs>
  <Slides>24</Slides>
  <Notes>21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24</vt:i4>
      </vt:variant>
    </vt:vector>
  </HeadingPairs>
  <TitlesOfParts>
    <vt:vector size="30" baseType="lpstr">
      <vt:lpstr>Aptos</vt:lpstr>
      <vt:lpstr>Arial</vt:lpstr>
      <vt:lpstr>Calibri</vt:lpstr>
      <vt:lpstr>Lucida Sans</vt:lpstr>
      <vt:lpstr>Wingdings</vt:lpstr>
      <vt:lpstr>Office Theme</vt:lpstr>
      <vt:lpstr>Presentación de PowerPoint</vt:lpstr>
      <vt:lpstr>Instructions General</vt:lpstr>
      <vt:lpstr>Learning outcome #1a – Notebook section 1. Technology “We will work with the demo UPVfab PDK. Let's view the layer distribution of this PDK”</vt:lpstr>
      <vt:lpstr>Presentación de PowerPoint</vt:lpstr>
      <vt:lpstr>Learning outcome #1b – Notebook section 1. Technology – 1 slide per component “Use your design results from Lab2 and Lab3 to create layout instances of your designed components: DCs, MMIs, MZIs &amp; Ring Resonators” DC</vt:lpstr>
      <vt:lpstr>Learning outcome #1b – Notebook section 1. Technology – 1 slide per component MMIs 1x2</vt:lpstr>
      <vt:lpstr>Learning outcome #1b – Notebook section 1. Technology – 1 slide per component MMIs 2x2</vt:lpstr>
      <vt:lpstr>Learning outcome #1b – Notebook section 1. Technology – 1 slide per component MZI</vt:lpstr>
      <vt:lpstr>Learning outcome #1b – Notebook section 1. Technology – 1 slide per component Ring Resonators</vt:lpstr>
      <vt:lpstr>Learning outcome #2a – Notebook section 2. Layout Fundamentals “Once that we have a working 'new' component, we shall convert it into a Cell. This will allow us to have a hierarchical design”</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#3 – Notebook section 3. Complete layout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Sergio David Ferraz de Jesus</cp:lastModifiedBy>
  <cp:revision>2</cp:revision>
  <dcterms:created xsi:type="dcterms:W3CDTF">2025-01-27T02:46:57Z</dcterms:created>
  <dcterms:modified xsi:type="dcterms:W3CDTF">2026-06-12T11:18:21Z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